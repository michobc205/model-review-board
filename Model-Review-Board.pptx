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a45e60c-ad51-c021-fa17-dbd96808faf9}">
          <p14:sldIdLst>
            <p14:sldId id="256"/>
          </p14:sldIdLst>
        </p14:section>
        <p14:section name="The app" id="{edba4941-90b7-0832-08fa-a59af44acd26}">
          <p14:sldIdLst>
            <p14:sldId id="257"/>
            <p14:sldId id="258"/>
            <p14:sldId id="259"/>
            <p14:sldId id="260"/>
            <p14:sldId id="261"/>
            <p14:sldId id="262"/>
          </p14:sldIdLst>
        </p14:section>
        <p14:section name="Quality" id="{cdd1d993-41e9-6305-3a21-1e794a0831d7}">
          <p14:sldIdLst>
            <p14:sldId id="263"/>
          </p14:sldIdLst>
        </p14:section>
        <p14:section name="Deployment" id="{102815b5-f7b2-8d9d-be0a-a1b2387bf21d}">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22F"/>
                </a:solidFill>
                <a:latin typeface="+mn-lt"/>
              </a:defRPr>
            </a:pPr>
            <a:r>
              <a:rPr sz="1400" b="0" i="0" u="none" strike="noStrike">
                <a:solidFill>
                  <a:srgbClr val="10222F"/>
                </a:solidFill>
                <a:latin typeface="+mn-lt"/>
              </a:rPr>
              <a:t>Tests per area</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0B3C5D"/>
            </a:solidFill>
            <a:effectLst/>
          </c:spPr>
          <c:invertIfNegative val="0"/>
          <c:dLbls>
            <c:numFmt formatCode="#,##0" sourceLinked="0"/>
            <c:txPr>
              <a:bodyPr/>
              <a:lstStyle/>
              <a:p>
                <a:pPr>
                  <a:defRPr b="0" i="0" strike="noStrike" sz="1200" u="none">
                    <a:solidFill>
                      <a:srgbClr val="10222F"/>
                    </a:solidFill>
                    <a:latin typeface="+mn-lt"/>
                  </a:defRPr>
                </a:pPr>
              </a:p>
            </c:txPr>
            <c:showLegendKey val="0"/>
            <c:showVal val="1"/>
            <c:showCatName val="0"/>
            <c:showSerName val="0"/>
            <c:showPercent val="0"/>
            <c:showBubbleSize val="0"/>
            <c:showLeaderLines val="0"/>
          </c:dLbls>
          <c:cat>
            <c:multiLvlStrRef>
              <c:f>Sheet1!$A$2:$A$11</c:f>
              <c:multiLvlStrCache>
                <c:ptCount val="10"/>
                <c:lvl>
                  <c:pt idx="0">
                    <c:v>Validation</c:v>
                  </c:pt>
                  <c:pt idx="1">
                    <c:v>Render files</c:v>
                  </c:pt>
                  <c:pt idx="2">
                    <c:v>Dashboard</c:v>
                  </c:pt>
                  <c:pt idx="3">
                    <c:v>Edit</c:v>
                  </c:pt>
                  <c:pt idx="4">
                    <c:v>Create</c:v>
                  </c:pt>
                  <c:pt idx="5">
                    <c:v>Delete</c:v>
                  </c:pt>
                  <c:pt idx="6">
                    <c:v>Settings</c:v>
                  </c:pt>
                  <c:pt idx="7">
                    <c:v>Model</c:v>
                  </c:pt>
                  <c:pt idx="8">
                    <c:v>Health check</c:v>
                  </c:pt>
                  <c:pt idx="9">
                    <c:v>Commands</c:v>
                  </c:pt>
                </c:lvl>
              </c:multiLvlStrCache>
            </c:multiLvlStrRef>
          </c:cat>
          <c:val>
            <c:numRef>
              <c:f>Sheet1!$B$2:$B$11</c:f>
              <c:numCache>
                <c:formatCode>General</c:formatCode>
                <c:ptCount val="10"/>
                <c:pt idx="0">
                  <c:v>32</c:v>
                </c:pt>
                <c:pt idx="1">
                  <c:v>18</c:v>
                </c:pt>
                <c:pt idx="2">
                  <c:v>10</c:v>
                </c:pt>
                <c:pt idx="3">
                  <c:v>8</c:v>
                </c:pt>
                <c:pt idx="4">
                  <c:v>7</c:v>
                </c:pt>
                <c:pt idx="5">
                  <c:v>7</c:v>
                </c:pt>
                <c:pt idx="6">
                  <c:v>6</c:v>
                </c:pt>
                <c:pt idx="7">
                  <c:v>5</c:v>
                </c:pt>
                <c:pt idx="8">
                  <c:v>3</c:v>
                </c:pt>
                <c:pt idx="9">
                  <c:v>3</c:v>
                </c:pt>
              </c:numCache>
            </c:numRef>
          </c:val>
        </c:ser>
        <c:dLbls>
          <c:numFmt formatCode="#,##0" sourceLinked="0"/>
          <c:txPr>
            <a:bodyPr/>
            <a:lstStyle/>
            <a:p>
              <a:pPr>
                <a:defRPr b="0" i="0" strike="noStrike" sz="1200" u="none">
                  <a:solidFill>
                    <a:srgbClr val="1022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0222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web app for an ML team to review model predictions. The three badges are the three decisions: pending, approved and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spreadsheet makes it hard to see which cases are pending, and notes get lost at handovers. The app stores every review in one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steps of the user journey. Every step was tried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routes, model, database. The same code runs on SQLite locally and on PostgreSQL on Render. Only DATABASE_URL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table. The decision is one of three values and starts as pending. The two dates are set by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checks every form. The picture shows the create form sent empty: four messages, nothing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dashboard, opened in a private window, which is a second session. It shows the same approved decision with its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cover the model, the settings, the commands, every page, the validation and the health check. Eighteen tests also guard render.yaml, so a paid plan or a written secret cannot slip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Blueprint created the service and the database on the free plan. A review made on the public app survived a redeploy. After 15 minutes of silence the service went to sleep, and the first load took 44.49 seconds. The app stays online until about 24 November 2026, then it is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reflection from the deployment notes. SQLite is for development. Before real review data, the app needs logins and access control. The deployment is done on the free plan, with evidence in the repository, and it is planned to be removed around 24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4" name="Text 0"/>
          <p:cNvSpPr/>
          <p:nvPr/>
        </p:nvSpPr>
        <p:spPr>
          <a:xfrm>
            <a:off x="548640" y="4828032"/>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Model Review Board</a:t>
            </a:r>
            <a:endParaRPr lang="en-US" sz="10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lipboard circle"/>
          <p:cNvSpPr/>
          <p:nvPr/>
        </p:nvSpPr>
        <p:spPr>
          <a:xfrm>
            <a:off x="548640" y="640080"/>
            <a:ext cx="731520" cy="731520"/>
          </a:xfrm>
          <a:prstGeom prst="ellipse">
            <a:avLst/>
          </a:prstGeom>
          <a:solidFill>
            <a:schemeClr val="accent1"/>
          </a:solidFill>
          <a:ln/>
        </p:spPr>
      </p:sp>
      <p:pic>
        <p:nvPicPr>
          <p:cNvPr id="3" name="Clipboard icon" descr="Clipboard">    </p:cNvPr>
          <p:cNvPicPr>
            <a:picLocks noChangeAspect="1"/>
          </p:cNvPicPr>
          <p:nvPr/>
        </p:nvPicPr>
        <p:blipFill>
          <a:blip r:embed="rId1"/>
          <a:stretch>
            <a:fillRect/>
          </a:stretch>
        </p:blipFill>
        <p:spPr>
          <a:xfrm>
            <a:off x="731520" y="822960"/>
            <a:ext cx="365760" cy="365760"/>
          </a:xfrm>
          <a:prstGeom prst="rect">
            <a:avLst/>
          </a:prstGeom>
        </p:spPr>
      </p:pic>
      <p:sp>
        <p:nvSpPr>
          <p:cNvPr id="4" name="Title"/>
          <p:cNvSpPr txBox="1"/>
          <p:nvPr/>
        </p:nvSpPr>
        <p:spPr>
          <a:xfrm>
            <a:off x="548640" y="1600200"/>
            <a:ext cx="8046720" cy="82296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Model Review Board</a:t>
            </a:r>
            <a:endParaRPr lang="en-US" sz="4400" dirty="0"/>
          </a:p>
        </p:txBody>
      </p:sp>
      <p:sp>
        <p:nvSpPr>
          <p:cNvPr id="5" name="Subtitle"/>
          <p:cNvSpPr txBox="1"/>
          <p:nvPr/>
        </p:nvSpPr>
        <p:spPr>
          <a:xfrm>
            <a:off x="548640" y="2423160"/>
            <a:ext cx="8046720" cy="502920"/>
          </a:xfrm>
          <a:prstGeom prst="rect">
            <a:avLst/>
          </a:prstGeom>
          <a:noFill/>
          <a:ln/>
        </p:spPr>
        <p:txBody>
          <a:bodyPr wrap="square" lIns="0" tIns="0" rIns="0" bIns="0" rtlCol="0" anchor="ctr"/>
          <a:lstStyle/>
          <a:p>
            <a:pPr indent="0" marL="0">
              <a:buNone/>
            </a:pPr>
            <a:r>
              <a:rPr lang="en-US" sz="2400" dirty="0">
                <a:solidFill>
                  <a:schemeClr val="accent1"/>
                </a:solidFill>
                <a:latin typeface="Cambria" pitchFamily="34" charset="0"/>
                <a:ea typeface="Cambria" pitchFamily="34" charset="-122"/>
                <a:cs typeface="Cambria" pitchFamily="34" charset="-120"/>
              </a:rPr>
              <a:t>A small Flask web app to review model predictions</a:t>
            </a:r>
            <a:endParaRPr lang="en-US" sz="2400" dirty="0"/>
          </a:p>
        </p:txBody>
      </p:sp>
      <p:sp>
        <p:nvSpPr>
          <p:cNvPr id="6" name="Description"/>
          <p:cNvSpPr txBox="1"/>
          <p:nvPr/>
        </p:nvSpPr>
        <p:spPr>
          <a:xfrm>
            <a:off x="548640" y="3063240"/>
            <a:ext cx="6949440" cy="822960"/>
          </a:xfrm>
          <a:prstGeom prst="rect">
            <a:avLst/>
          </a:prstGeom>
          <a:noFill/>
          <a:ln/>
        </p:spPr>
        <p:txBody>
          <a:bodyPr wrap="square" lIns="0" tIns="0" rIns="0" bIns="0" rtlCol="0" anchor="ctr"/>
          <a:lstStyle/>
          <a:p>
            <a:pPr indent="0" marL="0">
              <a:buNone/>
            </a:pPr>
            <a:r>
              <a:rPr lang="en-US" sz="1800" dirty="0">
                <a:solidFill>
                  <a:schemeClr val="bg2"/>
                </a:solidFill>
              </a:rPr>
              <a:t>Server-rendered pages, one database table, tests for every rule, and a Render Blueprint on free plans. Reviews and notes are stored in a database, so they survive handovers.</a:t>
            </a:r>
            <a:endParaRPr lang="en-US" sz="1800" dirty="0"/>
          </a:p>
        </p:txBody>
      </p:sp>
      <p:sp>
        <p:nvSpPr>
          <p:cNvPr id="7" name="Badge pending pill"/>
          <p:cNvSpPr/>
          <p:nvPr/>
        </p:nvSpPr>
        <p:spPr>
          <a:xfrm>
            <a:off x="548640" y="4023360"/>
            <a:ext cx="1417320" cy="365760"/>
          </a:xfrm>
          <a:prstGeom prst="roundRect">
            <a:avLst>
              <a:gd name="adj" fmla="val 50000"/>
            </a:avLst>
          </a:prstGeom>
          <a:solidFill>
            <a:schemeClr val="bg2"/>
          </a:solidFill>
          <a:ln/>
        </p:spPr>
      </p:sp>
      <p:sp>
        <p:nvSpPr>
          <p:cNvPr id="8" name="Badge pending dot"/>
          <p:cNvSpPr/>
          <p:nvPr/>
        </p:nvSpPr>
        <p:spPr>
          <a:xfrm>
            <a:off x="685800" y="4133088"/>
            <a:ext cx="146304" cy="146304"/>
          </a:xfrm>
          <a:prstGeom prst="ellipse">
            <a:avLst/>
          </a:prstGeom>
          <a:solidFill>
            <a:schemeClr val="accent1"/>
          </a:solidFill>
          <a:ln/>
        </p:spPr>
      </p:sp>
      <p:sp>
        <p:nvSpPr>
          <p:cNvPr id="9" name="Badge pending label"/>
          <p:cNvSpPr txBox="1"/>
          <p:nvPr/>
        </p:nvSpPr>
        <p:spPr>
          <a:xfrm>
            <a:off x="914400" y="4023360"/>
            <a:ext cx="960120" cy="365760"/>
          </a:xfrm>
          <a:prstGeom prst="rect">
            <a:avLst/>
          </a:prstGeom>
          <a:noFill/>
          <a:ln/>
        </p:spPr>
        <p:txBody>
          <a:bodyPr wrap="square" lIns="0" tIns="0" rIns="0" bIns="0" rtlCol="0" anchor="ctr"/>
          <a:lstStyle/>
          <a:p>
            <a:pPr indent="0" marL="0">
              <a:buNone/>
            </a:pPr>
            <a:r>
              <a:rPr lang="en-US" sz="1400" b="1" dirty="0">
                <a:solidFill>
                  <a:schemeClr val="tx1"/>
                </a:solidFill>
              </a:rPr>
              <a:t>pending</a:t>
            </a:r>
            <a:endParaRPr lang="en-US" sz="1400" dirty="0"/>
          </a:p>
        </p:txBody>
      </p:sp>
      <p:sp>
        <p:nvSpPr>
          <p:cNvPr id="10" name="Badge approved pill"/>
          <p:cNvSpPr/>
          <p:nvPr/>
        </p:nvSpPr>
        <p:spPr>
          <a:xfrm>
            <a:off x="2103120" y="4023360"/>
            <a:ext cx="1554480" cy="365760"/>
          </a:xfrm>
          <a:prstGeom prst="roundRect">
            <a:avLst>
              <a:gd name="adj" fmla="val 50000"/>
            </a:avLst>
          </a:prstGeom>
          <a:solidFill>
            <a:schemeClr val="bg2"/>
          </a:solidFill>
          <a:ln/>
        </p:spPr>
      </p:sp>
      <p:sp>
        <p:nvSpPr>
          <p:cNvPr id="11" name="Badge approved dot"/>
          <p:cNvSpPr/>
          <p:nvPr/>
        </p:nvSpPr>
        <p:spPr>
          <a:xfrm>
            <a:off x="2240280" y="4133088"/>
            <a:ext cx="146304" cy="146304"/>
          </a:xfrm>
          <a:prstGeom prst="ellipse">
            <a:avLst/>
          </a:prstGeom>
          <a:solidFill>
            <a:schemeClr val="accent6"/>
          </a:solidFill>
          <a:ln/>
        </p:spPr>
      </p:sp>
      <p:sp>
        <p:nvSpPr>
          <p:cNvPr id="12" name="Badge approved label"/>
          <p:cNvSpPr txBox="1"/>
          <p:nvPr/>
        </p:nvSpPr>
        <p:spPr>
          <a:xfrm>
            <a:off x="2468880" y="4023360"/>
            <a:ext cx="1097280" cy="365760"/>
          </a:xfrm>
          <a:prstGeom prst="rect">
            <a:avLst/>
          </a:prstGeom>
          <a:noFill/>
          <a:ln/>
        </p:spPr>
        <p:txBody>
          <a:bodyPr wrap="square" lIns="0" tIns="0" rIns="0" bIns="0" rtlCol="0" anchor="ctr"/>
          <a:lstStyle/>
          <a:p>
            <a:pPr indent="0" marL="0">
              <a:buNone/>
            </a:pPr>
            <a:r>
              <a:rPr lang="en-US" sz="1400" b="1" dirty="0">
                <a:solidFill>
                  <a:schemeClr val="tx1"/>
                </a:solidFill>
              </a:rPr>
              <a:t>approved</a:t>
            </a:r>
            <a:endParaRPr lang="en-US" sz="1400" dirty="0"/>
          </a:p>
        </p:txBody>
      </p:sp>
      <p:sp>
        <p:nvSpPr>
          <p:cNvPr id="13" name="Badge rejected pill"/>
          <p:cNvSpPr/>
          <p:nvPr/>
        </p:nvSpPr>
        <p:spPr>
          <a:xfrm>
            <a:off x="3794760" y="4023360"/>
            <a:ext cx="1508760" cy="365760"/>
          </a:xfrm>
          <a:prstGeom prst="roundRect">
            <a:avLst>
              <a:gd name="adj" fmla="val 50000"/>
            </a:avLst>
          </a:prstGeom>
          <a:solidFill>
            <a:schemeClr val="bg2"/>
          </a:solidFill>
          <a:ln/>
        </p:spPr>
      </p:sp>
      <p:sp>
        <p:nvSpPr>
          <p:cNvPr id="14" name="Badge rejected dot"/>
          <p:cNvSpPr/>
          <p:nvPr/>
        </p:nvSpPr>
        <p:spPr>
          <a:xfrm>
            <a:off x="3931920" y="4133088"/>
            <a:ext cx="146304" cy="146304"/>
          </a:xfrm>
          <a:prstGeom prst="ellipse">
            <a:avLst/>
          </a:prstGeom>
          <a:solidFill>
            <a:schemeClr val="accent4"/>
          </a:solidFill>
          <a:ln/>
        </p:spPr>
      </p:sp>
      <p:sp>
        <p:nvSpPr>
          <p:cNvPr id="15" name="Badge rejected label"/>
          <p:cNvSpPr txBox="1"/>
          <p:nvPr/>
        </p:nvSpPr>
        <p:spPr>
          <a:xfrm>
            <a:off x="4160520" y="4023360"/>
            <a:ext cx="1051560" cy="365760"/>
          </a:xfrm>
          <a:prstGeom prst="rect">
            <a:avLst/>
          </a:prstGeom>
          <a:noFill/>
          <a:ln/>
        </p:spPr>
        <p:txBody>
          <a:bodyPr wrap="square" lIns="0" tIns="0" rIns="0" bIns="0" rtlCol="0" anchor="ctr"/>
          <a:lstStyle/>
          <a:p>
            <a:pPr indent="0" marL="0">
              <a:buNone/>
            </a:pPr>
            <a:r>
              <a:rPr lang="en-US" sz="1400" b="1" dirty="0">
                <a:solidFill>
                  <a:schemeClr val="tx1"/>
                </a:solidFill>
              </a:rPr>
              <a:t>rejected</a:t>
            </a:r>
            <a:endParaRPr lang="en-US" sz="1400" dirty="0"/>
          </a:p>
        </p:txBody>
      </p:sp>
      <p:sp>
        <p:nvSpPr>
          <p:cNvPr id="16" name="Author"/>
          <p:cNvSpPr txBox="1"/>
          <p:nvPr/>
        </p:nvSpPr>
        <p:spPr>
          <a:xfrm>
            <a:off x="548640" y="4572000"/>
            <a:ext cx="8046720" cy="320040"/>
          </a:xfrm>
          <a:prstGeom prst="rect">
            <a:avLst/>
          </a:prstGeom>
          <a:noFill/>
          <a:ln/>
        </p:spPr>
        <p:txBody>
          <a:bodyPr wrap="square" lIns="0" tIns="0" rIns="0" bIns="0" rtlCol="0" anchor="ctr"/>
          <a:lstStyle/>
          <a:p>
            <a:pPr indent="0" marL="0">
              <a:buNone/>
            </a:pPr>
            <a:r>
              <a:rPr lang="en-US" sz="1400" dirty="0">
                <a:solidFill>
                  <a:schemeClr val="bg2"/>
                </a:solidFill>
              </a:rPr>
              <a:t>Michel Mghames  |  neuefische MLE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The scenario</a:t>
            </a: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lIns="0" tIns="0" rIns="0" bIns="0" rtlCol="0" anchor="t"/>
          <a:lstStyle/>
          <a:p>
            <a:pPr indent="0" marL="0">
              <a:buNone/>
            </a:pPr>
            <a:r>
              <a:rPr lang="en-US" sz="1600" dirty="0">
                <a:solidFill>
                  <a:schemeClr val="accent5"/>
                </a:solidFill>
              </a:rPr>
              <a:t>A small ML team reviews model predictions before another department uses the decisions. Their spreadsheet is not enough.</a:t>
            </a:r>
            <a:endParaRPr lang="en-US" sz="1600" dirty="0"/>
          </a:p>
        </p:txBody>
      </p:sp>
      <p:sp>
        <p:nvSpPr>
          <p:cNvPr id="4" name="Problem card"/>
          <p:cNvSpPr/>
          <p:nvPr/>
        </p:nvSpPr>
        <p:spPr>
          <a:xfrm>
            <a:off x="548640" y="1828800"/>
            <a:ext cx="3566160" cy="2606040"/>
          </a:xfrm>
          <a:prstGeom prst="roundRect">
            <a:avLst>
              <a:gd name="adj" fmla="val 2807"/>
            </a:avLst>
          </a:prstGeom>
          <a:solidFill>
            <a:schemeClr val="bg2"/>
          </a:solidFill>
          <a:ln/>
        </p:spPr>
      </p:sp>
      <p:sp>
        <p:nvSpPr>
          <p:cNvPr id="5" name="Spreadsheet circle"/>
          <p:cNvSpPr/>
          <p:nvPr/>
        </p:nvSpPr>
        <p:spPr>
          <a:xfrm>
            <a:off x="777240" y="2011680"/>
            <a:ext cx="548640" cy="548640"/>
          </a:xfrm>
          <a:prstGeom prst="ellipse">
            <a:avLst/>
          </a:prstGeom>
          <a:solidFill>
            <a:schemeClr val="accent4"/>
          </a:solidFill>
          <a:ln/>
        </p:spPr>
      </p:sp>
      <p:pic>
        <p:nvPicPr>
          <p:cNvPr id="6" name="Spreadsheet icon" descr="Spreadsheet">    </p:cNvPr>
          <p:cNvPicPr>
            <a:picLocks noChangeAspect="1"/>
          </p:cNvPicPr>
          <p:nvPr/>
        </p:nvPicPr>
        <p:blipFill>
          <a:blip r:embed="rId1"/>
          <a:stretch>
            <a:fillRect/>
          </a:stretch>
        </p:blipFill>
        <p:spPr>
          <a:xfrm>
            <a:off x="914400" y="2148840"/>
            <a:ext cx="274320" cy="274320"/>
          </a:xfrm>
          <a:prstGeom prst="rect">
            <a:avLst/>
          </a:prstGeom>
        </p:spPr>
      </p:pic>
      <p:sp>
        <p:nvSpPr>
          <p:cNvPr id="7" name="Problem title"/>
          <p:cNvSpPr txBox="1"/>
          <p:nvPr/>
        </p:nvSpPr>
        <p:spPr>
          <a:xfrm>
            <a:off x="1508760" y="2011680"/>
            <a:ext cx="24688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The problem</a:t>
            </a:r>
            <a:endParaRPr lang="en-US" sz="2000" dirty="0"/>
          </a:p>
        </p:txBody>
      </p:sp>
      <p:sp>
        <p:nvSpPr>
          <p:cNvPr id="8" name="Problem text"/>
          <p:cNvSpPr txBox="1"/>
          <p:nvPr/>
        </p:nvSpPr>
        <p:spPr>
          <a:xfrm>
            <a:off x="777240" y="2743200"/>
            <a:ext cx="3108960" cy="1554480"/>
          </a:xfrm>
          <a:prstGeom prst="rect">
            <a:avLst/>
          </a:prstGeom>
          <a:noFill/>
          <a:ln/>
        </p:spPr>
        <p:txBody>
          <a:bodyPr wrap="square" lIns="0" tIns="0" rIns="0" bIns="0" rtlCol="0" anchor="t"/>
          <a:lstStyle/>
          <a:p>
            <a:pPr indent="0" marL="0">
              <a:buNone/>
            </a:pPr>
            <a:r>
              <a:rPr lang="en-US" sz="1600" dirty="0">
                <a:solidFill>
                  <a:schemeClr val="tx1"/>
                </a:solidFill>
              </a:rPr>
              <a:t>It is hard to see which cases are still pending.</a:t>
            </a:r>
            <a:endParaRPr lang="en-US" sz="1600" dirty="0"/>
          </a:p>
          <a:p>
            <a:pPr indent="0" marL="0">
              <a:buNone/>
            </a:pPr>
            <a:endParaRPr lang="en-US" sz="1600" dirty="0"/>
          </a:p>
          <a:p>
            <a:pPr indent="0" marL="0">
              <a:buNone/>
            </a:pPr>
            <a:r>
              <a:rPr lang="en-US" sz="1600" dirty="0">
                <a:solidFill>
                  <a:schemeClr val="tx1"/>
                </a:solidFill>
              </a:rPr>
              <a:t>Reviewer notes can be lost when the work is handed over.</a:t>
            </a:r>
            <a:endParaRPr lang="en-US" sz="1600" dirty="0"/>
          </a:p>
        </p:txBody>
      </p:sp>
      <p:sp>
        <p:nvSpPr>
          <p:cNvPr id="9" name="Arrow"/>
          <p:cNvSpPr/>
          <p:nvPr/>
        </p:nvSpPr>
        <p:spPr>
          <a:xfrm>
            <a:off x="4206240" y="2926080"/>
            <a:ext cx="731520" cy="457200"/>
          </a:xfrm>
          <a:prstGeom prst="rightArrow">
            <a:avLst/>
          </a:prstGeom>
          <a:solidFill>
            <a:schemeClr val="accent1"/>
          </a:solidFill>
          <a:ln/>
        </p:spPr>
      </p:sp>
      <p:sp>
        <p:nvSpPr>
          <p:cNvPr id="10" name="Solution card"/>
          <p:cNvSpPr/>
          <p:nvPr/>
        </p:nvSpPr>
        <p:spPr>
          <a:xfrm>
            <a:off x="5029200" y="1828800"/>
            <a:ext cx="3566160" cy="2606040"/>
          </a:xfrm>
          <a:prstGeom prst="roundRect">
            <a:avLst>
              <a:gd name="adj" fmla="val 2807"/>
            </a:avLst>
          </a:prstGeom>
          <a:solidFill>
            <a:schemeClr val="bg2"/>
          </a:solidFill>
          <a:ln/>
        </p:spPr>
      </p:sp>
      <p:sp>
        <p:nvSpPr>
          <p:cNvPr id="11" name="Database circle"/>
          <p:cNvSpPr/>
          <p:nvPr/>
        </p:nvSpPr>
        <p:spPr>
          <a:xfrm>
            <a:off x="5257800" y="2011680"/>
            <a:ext cx="548640" cy="548640"/>
          </a:xfrm>
          <a:prstGeom prst="ellipse">
            <a:avLst/>
          </a:prstGeom>
          <a:solidFill>
            <a:schemeClr val="accent2"/>
          </a:solidFill>
          <a:ln/>
        </p:spPr>
      </p:sp>
      <p:pic>
        <p:nvPicPr>
          <p:cNvPr id="12" name="Database icon" descr="Database">    </p:cNvPr>
          <p:cNvPicPr>
            <a:picLocks noChangeAspect="1"/>
          </p:cNvPicPr>
          <p:nvPr/>
        </p:nvPicPr>
        <p:blipFill>
          <a:blip r:embed="rId2"/>
          <a:stretch>
            <a:fillRect/>
          </a:stretch>
        </p:blipFill>
        <p:spPr>
          <a:xfrm>
            <a:off x="5394960" y="2148840"/>
            <a:ext cx="274320" cy="274320"/>
          </a:xfrm>
          <a:prstGeom prst="rect">
            <a:avLst/>
          </a:prstGeom>
        </p:spPr>
      </p:pic>
      <p:sp>
        <p:nvSpPr>
          <p:cNvPr id="13" name="Solution title"/>
          <p:cNvSpPr txBox="1"/>
          <p:nvPr/>
        </p:nvSpPr>
        <p:spPr>
          <a:xfrm>
            <a:off x="5989320" y="2011680"/>
            <a:ext cx="24688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The app</a:t>
            </a:r>
            <a:endParaRPr lang="en-US" sz="2000" dirty="0"/>
          </a:p>
        </p:txBody>
      </p:sp>
      <p:sp>
        <p:nvSpPr>
          <p:cNvPr id="14" name="Solution text"/>
          <p:cNvSpPr txBox="1"/>
          <p:nvPr/>
        </p:nvSpPr>
        <p:spPr>
          <a:xfrm>
            <a:off x="5257800" y="2743200"/>
            <a:ext cx="3108960" cy="1554480"/>
          </a:xfrm>
          <a:prstGeom prst="rect">
            <a:avLst/>
          </a:prstGeom>
          <a:noFill/>
          <a:ln/>
        </p:spPr>
        <p:txBody>
          <a:bodyPr wrap="square" lIns="0" tIns="0" rIns="0" bIns="0" rtlCol="0" anchor="t"/>
          <a:lstStyle/>
          <a:p>
            <a:pPr indent="0" marL="0">
              <a:buNone/>
            </a:pPr>
            <a:r>
              <a:rPr lang="en-US" sz="1600" dirty="0">
                <a:solidFill>
                  <a:schemeClr val="tx1"/>
                </a:solidFill>
              </a:rPr>
              <a:t>Every review is stored in one relational database.</a:t>
            </a:r>
            <a:endParaRPr lang="en-US" sz="1600" dirty="0"/>
          </a:p>
          <a:p>
            <a:pPr indent="0" marL="0">
              <a:buNone/>
            </a:pPr>
            <a:endParaRPr lang="en-US" sz="1600" dirty="0"/>
          </a:p>
          <a:p>
            <a:pPr indent="0" marL="0">
              <a:buNone/>
            </a:pPr>
            <a:r>
              <a:rPr lang="en-US" sz="1600" dirty="0">
                <a:solidFill>
                  <a:schemeClr val="tx1"/>
                </a:solidFill>
              </a:rPr>
              <a:t>Everyone sees the same status, decision and notes.</a:t>
            </a:r>
            <a:endParaRPr lang="en-US" sz="16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The user journey</a:t>
            </a: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lIns="0" tIns="0" rIns="0" bIns="0" rtlCol="0" anchor="t"/>
          <a:lstStyle/>
          <a:p>
            <a:pPr indent="0" marL="0">
              <a:buNone/>
            </a:pPr>
            <a:r>
              <a:rPr lang="en-US" sz="1600" dirty="0">
                <a:solidFill>
                  <a:schemeClr val="accent5"/>
                </a:solidFill>
              </a:rPr>
              <a:t>Five steps from the project description. All of them work in the browser.</a:t>
            </a:r>
            <a:endParaRPr lang="en-US" sz="1600" dirty="0"/>
          </a:p>
        </p:txBody>
      </p:sp>
      <p:sp>
        <p:nvSpPr>
          <p:cNvPr id="4" name="Journey row 1"/>
          <p:cNvSpPr/>
          <p:nvPr/>
        </p:nvSpPr>
        <p:spPr>
          <a:xfrm>
            <a:off x="548640" y="1737360"/>
            <a:ext cx="8046720" cy="530352"/>
          </a:xfrm>
          <a:prstGeom prst="roundRect">
            <a:avLst>
              <a:gd name="adj" fmla="val 13793"/>
            </a:avLst>
          </a:prstGeom>
          <a:solidFill>
            <a:schemeClr val="bg2"/>
          </a:solidFill>
          <a:ln/>
        </p:spPr>
      </p:sp>
      <p:sp>
        <p:nvSpPr>
          <p:cNvPr id="5" name="Journey circle 1"/>
          <p:cNvSpPr/>
          <p:nvPr/>
        </p:nvSpPr>
        <p:spPr>
          <a:xfrm>
            <a:off x="685800" y="1819656"/>
            <a:ext cx="365760" cy="365760"/>
          </a:xfrm>
          <a:prstGeom prst="ellipse">
            <a:avLst/>
          </a:prstGeom>
          <a:solidFill>
            <a:schemeClr val="accent2"/>
          </a:solidFill>
          <a:ln/>
        </p:spPr>
      </p:sp>
      <p:sp>
        <p:nvSpPr>
          <p:cNvPr id="6" name="Journey number 1"/>
          <p:cNvSpPr txBox="1"/>
          <p:nvPr/>
        </p:nvSpPr>
        <p:spPr>
          <a:xfrm>
            <a:off x="685800" y="1819656"/>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Journey text 1"/>
          <p:cNvSpPr txBox="1"/>
          <p:nvPr/>
        </p:nvSpPr>
        <p:spPr>
          <a:xfrm>
            <a:off x="1234440" y="1737360"/>
            <a:ext cx="7223760" cy="530352"/>
          </a:xfrm>
          <a:prstGeom prst="rect">
            <a:avLst/>
          </a:prstGeom>
          <a:noFill/>
          <a:ln/>
        </p:spPr>
        <p:txBody>
          <a:bodyPr wrap="square" lIns="0" tIns="0" rIns="0" bIns="0" rtlCol="0" anchor="ctr"/>
          <a:lstStyle/>
          <a:p>
            <a:pPr indent="0" marL="0">
              <a:buNone/>
            </a:pPr>
            <a:r>
              <a:rPr lang="en-US" sz="1500" b="1" dirty="0">
                <a:solidFill>
                  <a:schemeClr val="tx2"/>
                </a:solidFill>
              </a:rPr>
              <a:t>Open the dashboard: </a:t>
            </a:r>
            <a:pPr indent="0" marL="0">
              <a:buNone/>
            </a:pPr>
            <a:r>
              <a:rPr lang="en-US" sz="1500" dirty="0">
                <a:solidFill>
                  <a:schemeClr val="tx1"/>
                </a:solidFill>
              </a:rPr>
              <a:t>all reviews and the status totals</a:t>
            </a:r>
            <a:endParaRPr lang="en-US" sz="1500" dirty="0"/>
          </a:p>
        </p:txBody>
      </p:sp>
      <p:sp>
        <p:nvSpPr>
          <p:cNvPr id="8" name="Journey row 2"/>
          <p:cNvSpPr/>
          <p:nvPr/>
        </p:nvSpPr>
        <p:spPr>
          <a:xfrm>
            <a:off x="548640" y="2350008"/>
            <a:ext cx="8046720" cy="530352"/>
          </a:xfrm>
          <a:prstGeom prst="roundRect">
            <a:avLst>
              <a:gd name="adj" fmla="val 13793"/>
            </a:avLst>
          </a:prstGeom>
          <a:solidFill>
            <a:schemeClr val="bg2"/>
          </a:solidFill>
          <a:ln/>
        </p:spPr>
      </p:sp>
      <p:sp>
        <p:nvSpPr>
          <p:cNvPr id="9" name="Journey circle 2"/>
          <p:cNvSpPr/>
          <p:nvPr/>
        </p:nvSpPr>
        <p:spPr>
          <a:xfrm>
            <a:off x="685800" y="2432304"/>
            <a:ext cx="365760" cy="365760"/>
          </a:xfrm>
          <a:prstGeom prst="ellipse">
            <a:avLst/>
          </a:prstGeom>
          <a:solidFill>
            <a:schemeClr val="accent2"/>
          </a:solidFill>
          <a:ln/>
        </p:spPr>
      </p:sp>
      <p:sp>
        <p:nvSpPr>
          <p:cNvPr id="10" name="Journey number 2"/>
          <p:cNvSpPr txBox="1"/>
          <p:nvPr/>
        </p:nvSpPr>
        <p:spPr>
          <a:xfrm>
            <a:off x="685800" y="2432304"/>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Journey text 2"/>
          <p:cNvSpPr txBox="1"/>
          <p:nvPr/>
        </p:nvSpPr>
        <p:spPr>
          <a:xfrm>
            <a:off x="1234440" y="2350008"/>
            <a:ext cx="7223760" cy="530352"/>
          </a:xfrm>
          <a:prstGeom prst="rect">
            <a:avLst/>
          </a:prstGeom>
          <a:noFill/>
          <a:ln/>
        </p:spPr>
        <p:txBody>
          <a:bodyPr wrap="square" lIns="0" tIns="0" rIns="0" bIns="0" rtlCol="0" anchor="ctr"/>
          <a:lstStyle/>
          <a:p>
            <a:pPr indent="0" marL="0">
              <a:buNone/>
            </a:pPr>
            <a:r>
              <a:rPr lang="en-US" sz="1500" b="1" dirty="0">
                <a:solidFill>
                  <a:schemeClr val="tx2"/>
                </a:solidFill>
              </a:rPr>
              <a:t>Create a review: </a:t>
            </a:r>
            <a:pPr indent="0" marL="0">
              <a:buNone/>
            </a:pPr>
            <a:r>
              <a:rPr lang="en-US" sz="1500" dirty="0">
                <a:solidFill>
                  <a:schemeClr val="tx1"/>
                </a:solidFill>
              </a:rPr>
              <a:t>case reference, prediction, confidence and input summary</a:t>
            </a:r>
            <a:endParaRPr lang="en-US" sz="1500" dirty="0"/>
          </a:p>
        </p:txBody>
      </p:sp>
      <p:sp>
        <p:nvSpPr>
          <p:cNvPr id="12" name="Journey row 3"/>
          <p:cNvSpPr/>
          <p:nvPr/>
        </p:nvSpPr>
        <p:spPr>
          <a:xfrm>
            <a:off x="548640" y="2962656"/>
            <a:ext cx="8046720" cy="530352"/>
          </a:xfrm>
          <a:prstGeom prst="roundRect">
            <a:avLst>
              <a:gd name="adj" fmla="val 13793"/>
            </a:avLst>
          </a:prstGeom>
          <a:solidFill>
            <a:schemeClr val="bg2"/>
          </a:solidFill>
          <a:ln/>
        </p:spPr>
      </p:sp>
      <p:sp>
        <p:nvSpPr>
          <p:cNvPr id="13" name="Journey circle 3"/>
          <p:cNvSpPr/>
          <p:nvPr/>
        </p:nvSpPr>
        <p:spPr>
          <a:xfrm>
            <a:off x="685800" y="3044952"/>
            <a:ext cx="365760" cy="365760"/>
          </a:xfrm>
          <a:prstGeom prst="ellipse">
            <a:avLst/>
          </a:prstGeom>
          <a:solidFill>
            <a:schemeClr val="accent2"/>
          </a:solidFill>
          <a:ln/>
        </p:spPr>
      </p:sp>
      <p:sp>
        <p:nvSpPr>
          <p:cNvPr id="14" name="Journey number 3"/>
          <p:cNvSpPr txBox="1"/>
          <p:nvPr/>
        </p:nvSpPr>
        <p:spPr>
          <a:xfrm>
            <a:off x="685800" y="3044952"/>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Journey text 3"/>
          <p:cNvSpPr txBox="1"/>
          <p:nvPr/>
        </p:nvSpPr>
        <p:spPr>
          <a:xfrm>
            <a:off x="1234440" y="2962656"/>
            <a:ext cx="7223760" cy="530352"/>
          </a:xfrm>
          <a:prstGeom prst="rect">
            <a:avLst/>
          </a:prstGeom>
          <a:noFill/>
          <a:ln/>
        </p:spPr>
        <p:txBody>
          <a:bodyPr wrap="square" lIns="0" tIns="0" rIns="0" bIns="0" rtlCol="0" anchor="ctr"/>
          <a:lstStyle/>
          <a:p>
            <a:pPr indent="0" marL="0">
              <a:buNone/>
            </a:pPr>
            <a:r>
              <a:rPr lang="en-US" sz="1500" b="1" dirty="0">
                <a:solidFill>
                  <a:schemeClr val="tx2"/>
                </a:solidFill>
              </a:rPr>
              <a:t>Decide: </a:t>
            </a:r>
            <a:pPr indent="0" marL="0">
              <a:buNone/>
            </a:pPr>
            <a:r>
              <a:rPr lang="en-US" sz="1500" dirty="0">
                <a:solidFill>
                  <a:schemeClr val="tx1"/>
                </a:solidFill>
              </a:rPr>
              <a:t>set approved or rejected, and add notes</a:t>
            </a:r>
            <a:endParaRPr lang="en-US" sz="1500" dirty="0"/>
          </a:p>
        </p:txBody>
      </p:sp>
      <p:sp>
        <p:nvSpPr>
          <p:cNvPr id="16" name="Journey row 4"/>
          <p:cNvSpPr/>
          <p:nvPr/>
        </p:nvSpPr>
        <p:spPr>
          <a:xfrm>
            <a:off x="548640" y="3575304"/>
            <a:ext cx="8046720" cy="530352"/>
          </a:xfrm>
          <a:prstGeom prst="roundRect">
            <a:avLst>
              <a:gd name="adj" fmla="val 13793"/>
            </a:avLst>
          </a:prstGeom>
          <a:solidFill>
            <a:schemeClr val="bg2"/>
          </a:solidFill>
          <a:ln/>
        </p:spPr>
      </p:sp>
      <p:sp>
        <p:nvSpPr>
          <p:cNvPr id="17" name="Journey circle 4"/>
          <p:cNvSpPr/>
          <p:nvPr/>
        </p:nvSpPr>
        <p:spPr>
          <a:xfrm>
            <a:off x="685800" y="3657600"/>
            <a:ext cx="365760" cy="365760"/>
          </a:xfrm>
          <a:prstGeom prst="ellipse">
            <a:avLst/>
          </a:prstGeom>
          <a:solidFill>
            <a:schemeClr val="accent2"/>
          </a:solidFill>
          <a:ln/>
        </p:spPr>
      </p:sp>
      <p:sp>
        <p:nvSpPr>
          <p:cNvPr id="18" name="Journey number 4"/>
          <p:cNvSpPr txBox="1"/>
          <p:nvPr/>
        </p:nvSpPr>
        <p:spPr>
          <a:xfrm>
            <a:off x="685800" y="365760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Journey text 4"/>
          <p:cNvSpPr txBox="1"/>
          <p:nvPr/>
        </p:nvSpPr>
        <p:spPr>
          <a:xfrm>
            <a:off x="1234440" y="3575304"/>
            <a:ext cx="7223760" cy="530352"/>
          </a:xfrm>
          <a:prstGeom prst="rect">
            <a:avLst/>
          </a:prstGeom>
          <a:noFill/>
          <a:ln/>
        </p:spPr>
        <p:txBody>
          <a:bodyPr wrap="square" lIns="0" tIns="0" rIns="0" bIns="0" rtlCol="0" anchor="ctr"/>
          <a:lstStyle/>
          <a:p>
            <a:pPr indent="0" marL="0">
              <a:buNone/>
            </a:pPr>
            <a:r>
              <a:rPr lang="en-US" sz="1500" b="1" dirty="0">
                <a:solidFill>
                  <a:schemeClr val="tx2"/>
                </a:solidFill>
              </a:rPr>
              <a:t>Read it elsewhere: </a:t>
            </a:r>
            <a:pPr indent="0" marL="0">
              <a:buNone/>
            </a:pPr>
            <a:r>
              <a:rPr lang="en-US" sz="1500" dirty="0">
                <a:solidFill>
                  <a:schemeClr val="tx1"/>
                </a:solidFill>
              </a:rPr>
              <a:t>another browser session sees the saved decision</a:t>
            </a:r>
            <a:endParaRPr lang="en-US" sz="1500" dirty="0"/>
          </a:p>
        </p:txBody>
      </p:sp>
      <p:sp>
        <p:nvSpPr>
          <p:cNvPr id="20" name="Journey row 5"/>
          <p:cNvSpPr/>
          <p:nvPr/>
        </p:nvSpPr>
        <p:spPr>
          <a:xfrm>
            <a:off x="548640" y="4187952"/>
            <a:ext cx="8046720" cy="530352"/>
          </a:xfrm>
          <a:prstGeom prst="roundRect">
            <a:avLst>
              <a:gd name="adj" fmla="val 13793"/>
            </a:avLst>
          </a:prstGeom>
          <a:solidFill>
            <a:schemeClr val="bg2"/>
          </a:solidFill>
          <a:ln/>
        </p:spPr>
      </p:sp>
      <p:sp>
        <p:nvSpPr>
          <p:cNvPr id="21" name="Journey circle 5"/>
          <p:cNvSpPr/>
          <p:nvPr/>
        </p:nvSpPr>
        <p:spPr>
          <a:xfrm>
            <a:off x="685800" y="4270248"/>
            <a:ext cx="365760" cy="365760"/>
          </a:xfrm>
          <a:prstGeom prst="ellipse">
            <a:avLst/>
          </a:prstGeom>
          <a:solidFill>
            <a:schemeClr val="accent2"/>
          </a:solidFill>
          <a:ln/>
        </p:spPr>
      </p:sp>
      <p:sp>
        <p:nvSpPr>
          <p:cNvPr id="22" name="Journey number 5"/>
          <p:cNvSpPr txBox="1"/>
          <p:nvPr/>
        </p:nvSpPr>
        <p:spPr>
          <a:xfrm>
            <a:off x="685800" y="4270248"/>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Journey text 5"/>
          <p:cNvSpPr txBox="1"/>
          <p:nvPr/>
        </p:nvSpPr>
        <p:spPr>
          <a:xfrm>
            <a:off x="1234440" y="4187952"/>
            <a:ext cx="7223760" cy="530352"/>
          </a:xfrm>
          <a:prstGeom prst="rect">
            <a:avLst/>
          </a:prstGeom>
          <a:noFill/>
          <a:ln/>
        </p:spPr>
        <p:txBody>
          <a:bodyPr wrap="square" lIns="0" tIns="0" rIns="0" bIns="0" rtlCol="0" anchor="ctr"/>
          <a:lstStyle/>
          <a:p>
            <a:pPr indent="0" marL="0">
              <a:buNone/>
            </a:pPr>
            <a:r>
              <a:rPr lang="en-US" sz="1500" b="1" dirty="0">
                <a:solidFill>
                  <a:schemeClr val="tx2"/>
                </a:solidFill>
              </a:rPr>
              <a:t>Delete with care: </a:t>
            </a:r>
            <a:pPr indent="0" marL="0">
              <a:buNone/>
            </a:pPr>
            <a:r>
              <a:rPr lang="en-US" sz="1500" dirty="0">
                <a:solidFill>
                  <a:schemeClr val="tx1"/>
                </a:solidFill>
              </a:rPr>
              <a:t>only through an explicit form: a question page, then a POST</a:t>
            </a:r>
            <a:endParaRPr lang="en-US" sz="15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How it works</a:t>
            </a: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lIns="0" tIns="0" rIns="0" bIns="0" rtlCol="0" anchor="t"/>
          <a:lstStyle/>
          <a:p>
            <a:pPr indent="0" marL="0">
              <a:buNone/>
            </a:pPr>
            <a:r>
              <a:rPr lang="en-US" sz="1600" dirty="0">
                <a:solidFill>
                  <a:schemeClr val="accent5"/>
                </a:solidFill>
              </a:rPr>
              <a:t>The browser talks to Flask routes. Flask-SQLAlchemy reads and writes the database. One setting chooses which database.</a:t>
            </a:r>
            <a:endParaRPr lang="en-US" sz="1600" dirty="0"/>
          </a:p>
        </p:txBody>
      </p:sp>
      <p:sp>
        <p:nvSpPr>
          <p:cNvPr id="4" name="Flow box 1"/>
          <p:cNvSpPr/>
          <p:nvPr/>
        </p:nvSpPr>
        <p:spPr>
          <a:xfrm>
            <a:off x="548640" y="1828800"/>
            <a:ext cx="1783080" cy="1463040"/>
          </a:xfrm>
          <a:prstGeom prst="roundRect">
            <a:avLst>
              <a:gd name="adj" fmla="val 5000"/>
            </a:avLst>
          </a:prstGeom>
          <a:solidFill>
            <a:schemeClr val="accent2"/>
          </a:solidFill>
          <a:ln/>
        </p:spPr>
      </p:sp>
      <p:sp>
        <p:nvSpPr>
          <p:cNvPr id="5" name="Flow title 1"/>
          <p:cNvSpPr txBox="1"/>
          <p:nvPr/>
        </p:nvSpPr>
        <p:spPr>
          <a:xfrm>
            <a:off x="685800" y="1920240"/>
            <a:ext cx="1508760" cy="365760"/>
          </a:xfrm>
          <a:prstGeom prst="rect">
            <a:avLst/>
          </a:prstGeom>
          <a:noFill/>
          <a:ln/>
        </p:spPr>
        <p:txBody>
          <a:bodyPr wrap="square" lIns="0" tIns="0" rIns="0" bIns="0" rtlCol="0" anchor="ctr"/>
          <a:lstStyle/>
          <a:p>
            <a:pPr indent="0" marL="0">
              <a:buNone/>
            </a:pPr>
            <a:r>
              <a:rPr lang="en-US" sz="1800" b="1" dirty="0">
                <a:solidFill>
                  <a:schemeClr val="bg1"/>
                </a:solidFill>
              </a:rPr>
              <a:t>Browser</a:t>
            </a:r>
            <a:endParaRPr lang="en-US" sz="1800" dirty="0"/>
          </a:p>
        </p:txBody>
      </p:sp>
      <p:sp>
        <p:nvSpPr>
          <p:cNvPr id="6" name="Flow text 1"/>
          <p:cNvSpPr txBox="1"/>
          <p:nvPr/>
        </p:nvSpPr>
        <p:spPr>
          <a:xfrm>
            <a:off x="685800" y="2331720"/>
            <a:ext cx="1508760" cy="502920"/>
          </a:xfrm>
          <a:prstGeom prst="rect">
            <a:avLst/>
          </a:prstGeom>
          <a:noFill/>
          <a:ln/>
        </p:spPr>
        <p:txBody>
          <a:bodyPr wrap="square" lIns="0" tIns="0" rIns="0" bIns="0" rtlCol="0" anchor="t"/>
          <a:lstStyle/>
          <a:p>
            <a:pPr indent="0" marL="0">
              <a:buNone/>
            </a:pPr>
            <a:r>
              <a:rPr lang="en-US" sz="1400" dirty="0">
                <a:solidFill>
                  <a:schemeClr val="bg1"/>
                </a:solidFill>
              </a:rPr>
              <a:t>pages and forms</a:t>
            </a:r>
            <a:endParaRPr lang="en-US" sz="1400" dirty="0"/>
          </a:p>
        </p:txBody>
      </p:sp>
      <p:sp>
        <p:nvSpPr>
          <p:cNvPr id="7" name="Flow detail 1"/>
          <p:cNvSpPr txBox="1"/>
          <p:nvPr/>
        </p:nvSpPr>
        <p:spPr>
          <a:xfrm>
            <a:off x="685800" y="2880360"/>
            <a:ext cx="1508760" cy="365760"/>
          </a:xfrm>
          <a:prstGeom prst="rect">
            <a:avLst/>
          </a:prstGeom>
          <a:noFill/>
          <a:ln/>
        </p:spPr>
        <p:txBody>
          <a:bodyPr wrap="square" lIns="0" tIns="0" rIns="0" bIns="0" rtlCol="0" anchor="t"/>
          <a:lstStyle/>
          <a:p>
            <a:pPr indent="0" marL="0">
              <a:buNone/>
            </a:pPr>
            <a:r>
              <a:rPr lang="en-US" sz="1200" dirty="0">
                <a:solidFill>
                  <a:schemeClr val="bg2"/>
                </a:solidFill>
              </a:rPr>
              <a:t>Jinja templates</a:t>
            </a:r>
            <a:endParaRPr lang="en-US" sz="1200" dirty="0"/>
          </a:p>
        </p:txBody>
      </p:sp>
      <p:sp>
        <p:nvSpPr>
          <p:cNvPr id="8" name="Flow arrow 1"/>
          <p:cNvSpPr/>
          <p:nvPr/>
        </p:nvSpPr>
        <p:spPr>
          <a:xfrm>
            <a:off x="2377440" y="2423160"/>
            <a:ext cx="228600" cy="274320"/>
          </a:xfrm>
          <a:prstGeom prst="rightArrow">
            <a:avLst/>
          </a:prstGeom>
          <a:solidFill>
            <a:schemeClr val="accent1"/>
          </a:solidFill>
          <a:ln/>
        </p:spPr>
      </p:sp>
      <p:sp>
        <p:nvSpPr>
          <p:cNvPr id="9" name="Flow box 2"/>
          <p:cNvSpPr/>
          <p:nvPr/>
        </p:nvSpPr>
        <p:spPr>
          <a:xfrm>
            <a:off x="2633472" y="1828800"/>
            <a:ext cx="1783080" cy="1463040"/>
          </a:xfrm>
          <a:prstGeom prst="roundRect">
            <a:avLst>
              <a:gd name="adj" fmla="val 5000"/>
            </a:avLst>
          </a:prstGeom>
          <a:solidFill>
            <a:schemeClr val="tx2"/>
          </a:solidFill>
          <a:ln/>
        </p:spPr>
      </p:sp>
      <p:sp>
        <p:nvSpPr>
          <p:cNvPr id="10" name="Flow title 2"/>
          <p:cNvSpPr txBox="1"/>
          <p:nvPr/>
        </p:nvSpPr>
        <p:spPr>
          <a:xfrm>
            <a:off x="2770632" y="1920240"/>
            <a:ext cx="1508760" cy="365760"/>
          </a:xfrm>
          <a:prstGeom prst="rect">
            <a:avLst/>
          </a:prstGeom>
          <a:noFill/>
          <a:ln/>
        </p:spPr>
        <p:txBody>
          <a:bodyPr wrap="square" lIns="0" tIns="0" rIns="0" bIns="0" rtlCol="0" anchor="ctr"/>
          <a:lstStyle/>
          <a:p>
            <a:pPr indent="0" marL="0">
              <a:buNone/>
            </a:pPr>
            <a:r>
              <a:rPr lang="en-US" sz="1800" b="1" dirty="0">
                <a:solidFill>
                  <a:schemeClr val="bg1"/>
                </a:solidFill>
              </a:rPr>
              <a:t>Flask routes</a:t>
            </a:r>
            <a:endParaRPr lang="en-US" sz="1800" dirty="0"/>
          </a:p>
        </p:txBody>
      </p:sp>
      <p:sp>
        <p:nvSpPr>
          <p:cNvPr id="11" name="Flow text 2"/>
          <p:cNvSpPr txBox="1"/>
          <p:nvPr/>
        </p:nvSpPr>
        <p:spPr>
          <a:xfrm>
            <a:off x="2770632" y="2331720"/>
            <a:ext cx="1508760" cy="502920"/>
          </a:xfrm>
          <a:prstGeom prst="rect">
            <a:avLst/>
          </a:prstGeom>
          <a:noFill/>
          <a:ln/>
        </p:spPr>
        <p:txBody>
          <a:bodyPr wrap="square" lIns="0" tIns="0" rIns="0" bIns="0" rtlCol="0" anchor="t"/>
          <a:lstStyle/>
          <a:p>
            <a:pPr indent="0" marL="0">
              <a:buNone/>
            </a:pPr>
            <a:r>
              <a:rPr lang="en-US" sz="1400" dirty="0">
                <a:solidFill>
                  <a:schemeClr val="bg1"/>
                </a:solidFill>
              </a:rPr>
              <a:t>dashboard, forms, health</a:t>
            </a:r>
            <a:endParaRPr lang="en-US" sz="1400" dirty="0"/>
          </a:p>
        </p:txBody>
      </p:sp>
      <p:sp>
        <p:nvSpPr>
          <p:cNvPr id="12" name="Flow detail 2"/>
          <p:cNvSpPr txBox="1"/>
          <p:nvPr/>
        </p:nvSpPr>
        <p:spPr>
          <a:xfrm>
            <a:off x="2770632" y="2880360"/>
            <a:ext cx="1508760" cy="365760"/>
          </a:xfrm>
          <a:prstGeom prst="rect">
            <a:avLst/>
          </a:prstGeom>
          <a:noFill/>
          <a:ln/>
        </p:spPr>
        <p:txBody>
          <a:bodyPr wrap="square" lIns="0" tIns="0" rIns="0" bIns="0" rtlCol="0" anchor="t"/>
          <a:lstStyle/>
          <a:p>
            <a:pPr indent="0" marL="0">
              <a:buNone/>
            </a:pPr>
            <a:r>
              <a:rPr lang="en-US" sz="1200" dirty="0">
                <a:solidFill>
                  <a:schemeClr val="bg2"/>
                </a:solidFill>
              </a:rPr>
              <a:t>routes.py</a:t>
            </a:r>
            <a:endParaRPr lang="en-US" sz="1200" dirty="0"/>
          </a:p>
        </p:txBody>
      </p:sp>
      <p:sp>
        <p:nvSpPr>
          <p:cNvPr id="13" name="Flow arrow 2"/>
          <p:cNvSpPr/>
          <p:nvPr/>
        </p:nvSpPr>
        <p:spPr>
          <a:xfrm>
            <a:off x="4462272" y="2423160"/>
            <a:ext cx="228600" cy="274320"/>
          </a:xfrm>
          <a:prstGeom prst="rightArrow">
            <a:avLst/>
          </a:prstGeom>
          <a:solidFill>
            <a:schemeClr val="accent1"/>
          </a:solidFill>
          <a:ln/>
        </p:spPr>
      </p:sp>
      <p:sp>
        <p:nvSpPr>
          <p:cNvPr id="14" name="Flow box 3"/>
          <p:cNvSpPr/>
          <p:nvPr/>
        </p:nvSpPr>
        <p:spPr>
          <a:xfrm>
            <a:off x="4718304" y="1828800"/>
            <a:ext cx="1783080" cy="1463040"/>
          </a:xfrm>
          <a:prstGeom prst="roundRect">
            <a:avLst>
              <a:gd name="adj" fmla="val 5000"/>
            </a:avLst>
          </a:prstGeom>
          <a:solidFill>
            <a:schemeClr val="tx2"/>
          </a:solidFill>
          <a:ln/>
        </p:spPr>
      </p:sp>
      <p:sp>
        <p:nvSpPr>
          <p:cNvPr id="15" name="Flow title 3"/>
          <p:cNvSpPr txBox="1"/>
          <p:nvPr/>
        </p:nvSpPr>
        <p:spPr>
          <a:xfrm>
            <a:off x="4855464" y="1920240"/>
            <a:ext cx="1508760" cy="365760"/>
          </a:xfrm>
          <a:prstGeom prst="rect">
            <a:avLst/>
          </a:prstGeom>
          <a:noFill/>
          <a:ln/>
        </p:spPr>
        <p:txBody>
          <a:bodyPr wrap="square" lIns="0" tIns="0" rIns="0" bIns="0" rtlCol="0" anchor="ctr"/>
          <a:lstStyle/>
          <a:p>
            <a:pPr indent="0" marL="0">
              <a:buNone/>
            </a:pPr>
            <a:r>
              <a:rPr lang="en-US" sz="1800" b="1" dirty="0">
                <a:solidFill>
                  <a:schemeClr val="bg1"/>
                </a:solidFill>
              </a:rPr>
              <a:t>Review model</a:t>
            </a:r>
            <a:endParaRPr lang="en-US" sz="1800" dirty="0"/>
          </a:p>
        </p:txBody>
      </p:sp>
      <p:sp>
        <p:nvSpPr>
          <p:cNvPr id="16" name="Flow text 3"/>
          <p:cNvSpPr txBox="1"/>
          <p:nvPr/>
        </p:nvSpPr>
        <p:spPr>
          <a:xfrm>
            <a:off x="4855464" y="2331720"/>
            <a:ext cx="1508760" cy="502920"/>
          </a:xfrm>
          <a:prstGeom prst="rect">
            <a:avLst/>
          </a:prstGeom>
          <a:noFill/>
          <a:ln/>
        </p:spPr>
        <p:txBody>
          <a:bodyPr wrap="square" lIns="0" tIns="0" rIns="0" bIns="0" rtlCol="0" anchor="t"/>
          <a:lstStyle/>
          <a:p>
            <a:pPr indent="0" marL="0">
              <a:buNone/>
            </a:pPr>
            <a:r>
              <a:rPr lang="en-US" sz="1400" dirty="0">
                <a:solidFill>
                  <a:schemeClr val="bg1"/>
                </a:solidFill>
              </a:rPr>
              <a:t>one table and the rules</a:t>
            </a:r>
            <a:endParaRPr lang="en-US" sz="1400" dirty="0"/>
          </a:p>
        </p:txBody>
      </p:sp>
      <p:sp>
        <p:nvSpPr>
          <p:cNvPr id="17" name="Flow detail 3"/>
          <p:cNvSpPr txBox="1"/>
          <p:nvPr/>
        </p:nvSpPr>
        <p:spPr>
          <a:xfrm>
            <a:off x="4855464" y="2880360"/>
            <a:ext cx="1508760" cy="365760"/>
          </a:xfrm>
          <a:prstGeom prst="rect">
            <a:avLst/>
          </a:prstGeom>
          <a:noFill/>
          <a:ln/>
        </p:spPr>
        <p:txBody>
          <a:bodyPr wrap="square" lIns="0" tIns="0" rIns="0" bIns="0" rtlCol="0" anchor="t"/>
          <a:lstStyle/>
          <a:p>
            <a:pPr indent="0" marL="0">
              <a:buNone/>
            </a:pPr>
            <a:r>
              <a:rPr lang="en-US" sz="1200" dirty="0">
                <a:solidFill>
                  <a:schemeClr val="bg2"/>
                </a:solidFill>
              </a:rPr>
              <a:t>models.py, validation.py</a:t>
            </a:r>
            <a:endParaRPr lang="en-US" sz="1200" dirty="0"/>
          </a:p>
        </p:txBody>
      </p:sp>
      <p:sp>
        <p:nvSpPr>
          <p:cNvPr id="18" name="Flow arrow 3"/>
          <p:cNvSpPr/>
          <p:nvPr/>
        </p:nvSpPr>
        <p:spPr>
          <a:xfrm>
            <a:off x="6547104" y="2423160"/>
            <a:ext cx="228600" cy="274320"/>
          </a:xfrm>
          <a:prstGeom prst="rightArrow">
            <a:avLst/>
          </a:prstGeom>
          <a:solidFill>
            <a:schemeClr val="accent1"/>
          </a:solidFill>
          <a:ln/>
        </p:spPr>
      </p:sp>
      <p:sp>
        <p:nvSpPr>
          <p:cNvPr id="19" name="Flow box 4"/>
          <p:cNvSpPr/>
          <p:nvPr/>
        </p:nvSpPr>
        <p:spPr>
          <a:xfrm>
            <a:off x="6803136" y="1828800"/>
            <a:ext cx="1783080" cy="1463040"/>
          </a:xfrm>
          <a:prstGeom prst="roundRect">
            <a:avLst>
              <a:gd name="adj" fmla="val 5000"/>
            </a:avLst>
          </a:prstGeom>
          <a:solidFill>
            <a:schemeClr val="accent2"/>
          </a:solidFill>
          <a:ln/>
        </p:spPr>
      </p:sp>
      <p:sp>
        <p:nvSpPr>
          <p:cNvPr id="20" name="Flow title 4"/>
          <p:cNvSpPr txBox="1"/>
          <p:nvPr/>
        </p:nvSpPr>
        <p:spPr>
          <a:xfrm>
            <a:off x="6940296" y="1920240"/>
            <a:ext cx="1508760" cy="365760"/>
          </a:xfrm>
          <a:prstGeom prst="rect">
            <a:avLst/>
          </a:prstGeom>
          <a:noFill/>
          <a:ln/>
        </p:spPr>
        <p:txBody>
          <a:bodyPr wrap="square" lIns="0" tIns="0" rIns="0" bIns="0" rtlCol="0" anchor="ctr"/>
          <a:lstStyle/>
          <a:p>
            <a:pPr indent="0" marL="0">
              <a:buNone/>
            </a:pPr>
            <a:r>
              <a:rPr lang="en-US" sz="1800" b="1" dirty="0">
                <a:solidFill>
                  <a:schemeClr val="bg1"/>
                </a:solidFill>
              </a:rPr>
              <a:t>Database</a:t>
            </a:r>
            <a:endParaRPr lang="en-US" sz="1800" dirty="0"/>
          </a:p>
        </p:txBody>
      </p:sp>
      <p:sp>
        <p:nvSpPr>
          <p:cNvPr id="21" name="Flow text 4"/>
          <p:cNvSpPr txBox="1"/>
          <p:nvPr/>
        </p:nvSpPr>
        <p:spPr>
          <a:xfrm>
            <a:off x="6940296" y="2331720"/>
            <a:ext cx="1508760" cy="502920"/>
          </a:xfrm>
          <a:prstGeom prst="rect">
            <a:avLst/>
          </a:prstGeom>
          <a:noFill/>
          <a:ln/>
        </p:spPr>
        <p:txBody>
          <a:bodyPr wrap="square" lIns="0" tIns="0" rIns="0" bIns="0" rtlCol="0" anchor="t"/>
          <a:lstStyle/>
          <a:p>
            <a:pPr indent="0" marL="0">
              <a:buNone/>
            </a:pPr>
            <a:r>
              <a:rPr lang="en-US" sz="1400" dirty="0">
                <a:solidFill>
                  <a:schemeClr val="bg1"/>
                </a:solidFill>
              </a:rPr>
              <a:t>SQLite locally</a:t>
            </a:r>
            <a:endParaRPr lang="en-US" sz="1400" dirty="0"/>
          </a:p>
        </p:txBody>
      </p:sp>
      <p:sp>
        <p:nvSpPr>
          <p:cNvPr id="22" name="Flow detail 4"/>
          <p:cNvSpPr txBox="1"/>
          <p:nvPr/>
        </p:nvSpPr>
        <p:spPr>
          <a:xfrm>
            <a:off x="6940296" y="2880360"/>
            <a:ext cx="1508760" cy="365760"/>
          </a:xfrm>
          <a:prstGeom prst="rect">
            <a:avLst/>
          </a:prstGeom>
          <a:noFill/>
          <a:ln/>
        </p:spPr>
        <p:txBody>
          <a:bodyPr wrap="square" lIns="0" tIns="0" rIns="0" bIns="0" rtlCol="0" anchor="t"/>
          <a:lstStyle/>
          <a:p>
            <a:pPr indent="0" marL="0">
              <a:buNone/>
            </a:pPr>
            <a:r>
              <a:rPr lang="en-US" sz="1200" dirty="0">
                <a:solidFill>
                  <a:schemeClr val="bg2"/>
                </a:solidFill>
              </a:rPr>
              <a:t>PostgreSQL on Render</a:t>
            </a:r>
            <a:endParaRPr lang="en-US" sz="1200" dirty="0"/>
          </a:p>
        </p:txBody>
      </p:sp>
      <p:sp>
        <p:nvSpPr>
          <p:cNvPr id="23" name="Server card"/>
          <p:cNvSpPr/>
          <p:nvPr/>
        </p:nvSpPr>
        <p:spPr>
          <a:xfrm>
            <a:off x="548640" y="3566160"/>
            <a:ext cx="3886200" cy="1051560"/>
          </a:xfrm>
          <a:prstGeom prst="roundRect">
            <a:avLst>
              <a:gd name="adj" fmla="val 6957"/>
            </a:avLst>
          </a:prstGeom>
          <a:solidFill>
            <a:schemeClr val="bg2"/>
          </a:solidFill>
          <a:ln/>
        </p:spPr>
      </p:sp>
      <p:sp>
        <p:nvSpPr>
          <p:cNvPr id="24" name="Server circle"/>
          <p:cNvSpPr/>
          <p:nvPr/>
        </p:nvSpPr>
        <p:spPr>
          <a:xfrm>
            <a:off x="731520" y="3794760"/>
            <a:ext cx="502920" cy="502920"/>
          </a:xfrm>
          <a:prstGeom prst="ellipse">
            <a:avLst/>
          </a:prstGeom>
          <a:solidFill>
            <a:schemeClr val="accent2"/>
          </a:solidFill>
          <a:ln/>
        </p:spPr>
      </p:sp>
      <p:pic>
        <p:nvPicPr>
          <p:cNvPr id="25" name="Server icon" descr="Server">    </p:cNvPr>
          <p:cNvPicPr>
            <a:picLocks noChangeAspect="1"/>
          </p:cNvPicPr>
          <p:nvPr/>
        </p:nvPicPr>
        <p:blipFill>
          <a:blip r:embed="rId1"/>
          <a:stretch>
            <a:fillRect/>
          </a:stretch>
        </p:blipFill>
        <p:spPr>
          <a:xfrm>
            <a:off x="857250" y="3920490"/>
            <a:ext cx="251460" cy="251460"/>
          </a:xfrm>
          <a:prstGeom prst="rect">
            <a:avLst/>
          </a:prstGeom>
        </p:spPr>
      </p:pic>
      <p:sp>
        <p:nvSpPr>
          <p:cNvPr id="26" name="Server title"/>
          <p:cNvSpPr txBox="1"/>
          <p:nvPr/>
        </p:nvSpPr>
        <p:spPr>
          <a:xfrm>
            <a:off x="1417320" y="3657600"/>
            <a:ext cx="2926080" cy="320040"/>
          </a:xfrm>
          <a:prstGeom prst="rect">
            <a:avLst/>
          </a:prstGeom>
          <a:noFill/>
          <a:ln/>
        </p:spPr>
        <p:txBody>
          <a:bodyPr wrap="square" lIns="0" tIns="0" rIns="0" bIns="0" rtlCol="0" anchor="ctr"/>
          <a:lstStyle/>
          <a:p>
            <a:pPr indent="0" marL="0">
              <a:buNone/>
            </a:pPr>
            <a:r>
              <a:rPr lang="en-US" sz="1600" b="1" dirty="0">
                <a:solidFill>
                  <a:schemeClr val="tx2"/>
                </a:solidFill>
              </a:rPr>
              <a:t>Rendered on the server</a:t>
            </a:r>
            <a:endParaRPr lang="en-US" sz="1600" dirty="0"/>
          </a:p>
        </p:txBody>
      </p:sp>
      <p:sp>
        <p:nvSpPr>
          <p:cNvPr id="27" name="Server text"/>
          <p:cNvSpPr txBox="1"/>
          <p:nvPr/>
        </p:nvSpPr>
        <p:spPr>
          <a:xfrm>
            <a:off x="1417320" y="4005072"/>
            <a:ext cx="2926080" cy="548640"/>
          </a:xfrm>
          <a:prstGeom prst="rect">
            <a:avLst/>
          </a:prstGeom>
          <a:noFill/>
          <a:ln/>
        </p:spPr>
        <p:txBody>
          <a:bodyPr wrap="square" lIns="0" tIns="0" rIns="0" bIns="0" rtlCol="0" anchor="t"/>
          <a:lstStyle/>
          <a:p>
            <a:pPr indent="0" marL="0">
              <a:buNone/>
            </a:pPr>
            <a:r>
              <a:rPr lang="en-US" sz="1400" dirty="0">
                <a:solidFill>
                  <a:schemeClr val="tx1"/>
                </a:solidFill>
              </a:rPr>
              <a:t>Plain HTML pages from Jinja templates. No JavaScript is needed.</a:t>
            </a:r>
            <a:endParaRPr lang="en-US" sz="1400" dirty="0"/>
          </a:p>
        </p:txBody>
      </p:sp>
      <p:sp>
        <p:nvSpPr>
          <p:cNvPr id="28" name="Setting card"/>
          <p:cNvSpPr/>
          <p:nvPr/>
        </p:nvSpPr>
        <p:spPr>
          <a:xfrm>
            <a:off x="4709160" y="3566160"/>
            <a:ext cx="3886200" cy="1051560"/>
          </a:xfrm>
          <a:prstGeom prst="roundRect">
            <a:avLst>
              <a:gd name="adj" fmla="val 6957"/>
            </a:avLst>
          </a:prstGeom>
          <a:solidFill>
            <a:schemeClr val="bg2"/>
          </a:solidFill>
          <a:ln/>
        </p:spPr>
      </p:sp>
      <p:sp>
        <p:nvSpPr>
          <p:cNvPr id="29" name="Setting circle"/>
          <p:cNvSpPr/>
          <p:nvPr/>
        </p:nvSpPr>
        <p:spPr>
          <a:xfrm>
            <a:off x="4892040" y="3794760"/>
            <a:ext cx="502920" cy="502920"/>
          </a:xfrm>
          <a:prstGeom prst="ellipse">
            <a:avLst/>
          </a:prstGeom>
          <a:solidFill>
            <a:schemeClr val="accent2"/>
          </a:solidFill>
          <a:ln/>
        </p:spPr>
      </p:sp>
      <p:pic>
        <p:nvPicPr>
          <p:cNvPr id="30" name="Setting icon" descr="Setting">    </p:cNvPr>
          <p:cNvPicPr>
            <a:picLocks noChangeAspect="1"/>
          </p:cNvPicPr>
          <p:nvPr/>
        </p:nvPicPr>
        <p:blipFill>
          <a:blip r:embed="rId2"/>
          <a:stretch>
            <a:fillRect/>
          </a:stretch>
        </p:blipFill>
        <p:spPr>
          <a:xfrm>
            <a:off x="5017770" y="3920490"/>
            <a:ext cx="251460" cy="251460"/>
          </a:xfrm>
          <a:prstGeom prst="rect">
            <a:avLst/>
          </a:prstGeom>
        </p:spPr>
      </p:pic>
      <p:sp>
        <p:nvSpPr>
          <p:cNvPr id="31" name="Setting title"/>
          <p:cNvSpPr txBox="1"/>
          <p:nvPr/>
        </p:nvSpPr>
        <p:spPr>
          <a:xfrm>
            <a:off x="5577840" y="3657600"/>
            <a:ext cx="2926080" cy="320040"/>
          </a:xfrm>
          <a:prstGeom prst="rect">
            <a:avLst/>
          </a:prstGeom>
          <a:noFill/>
          <a:ln/>
        </p:spPr>
        <p:txBody>
          <a:bodyPr wrap="square" lIns="0" tIns="0" rIns="0" bIns="0" rtlCol="0" anchor="ctr"/>
          <a:lstStyle/>
          <a:p>
            <a:pPr indent="0" marL="0">
              <a:buNone/>
            </a:pPr>
            <a:r>
              <a:rPr lang="en-US" sz="1600" b="1" dirty="0">
                <a:solidFill>
                  <a:schemeClr val="tx2"/>
                </a:solidFill>
              </a:rPr>
              <a:t>One setting: DATABASE_URL</a:t>
            </a:r>
            <a:endParaRPr lang="en-US" sz="1600" dirty="0"/>
          </a:p>
        </p:txBody>
      </p:sp>
      <p:sp>
        <p:nvSpPr>
          <p:cNvPr id="32" name="Setting text"/>
          <p:cNvSpPr txBox="1"/>
          <p:nvPr/>
        </p:nvSpPr>
        <p:spPr>
          <a:xfrm>
            <a:off x="5577840" y="4005072"/>
            <a:ext cx="2926080" cy="548640"/>
          </a:xfrm>
          <a:prstGeom prst="rect">
            <a:avLst/>
          </a:prstGeom>
          <a:noFill/>
          <a:ln/>
        </p:spPr>
        <p:txBody>
          <a:bodyPr wrap="square" lIns="0" tIns="0" rIns="0" bIns="0" rtlCol="0" anchor="t"/>
          <a:lstStyle/>
          <a:p>
            <a:pPr indent="0" marL="0">
              <a:buNone/>
            </a:pPr>
            <a:r>
              <a:rPr lang="en-US" sz="1400" dirty="0">
                <a:solidFill>
                  <a:schemeClr val="tx1"/>
                </a:solidFill>
              </a:rPr>
              <a:t>SQLite is the local default. On Render it points to PostgreSQL.</a:t>
            </a:r>
            <a:endParaRPr lang="en-US" sz="14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The data</a:t>
            </a: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lIns="0" tIns="0" rIns="0" bIns="0" rtlCol="0" anchor="t"/>
          <a:lstStyle/>
          <a:p>
            <a:pPr indent="0" marL="0">
              <a:buNone/>
            </a:pPr>
            <a:r>
              <a:rPr lang="en-US" sz="1600" dirty="0">
                <a:solidFill>
                  <a:schemeClr val="accent5"/>
                </a:solidFill>
              </a:rPr>
              <a:t>One table, review, with nine columns. A new review starts as pending, and both dates are set by the app.</a:t>
            </a:r>
            <a:endParaRPr lang="en-US" sz="1600" dirty="0"/>
          </a:p>
        </p:txBody>
      </p:sp>
      <p:sp>
        <p:nvSpPr>
          <p:cNvPr id="4" name="Column card 1"/>
          <p:cNvSpPr/>
          <p:nvPr/>
        </p:nvSpPr>
        <p:spPr>
          <a:xfrm>
            <a:off x="548640" y="1783080"/>
            <a:ext cx="2560320" cy="841248"/>
          </a:xfrm>
          <a:prstGeom prst="roundRect">
            <a:avLst>
              <a:gd name="adj" fmla="val 8696"/>
            </a:avLst>
          </a:prstGeom>
          <a:solidFill>
            <a:schemeClr val="bg2"/>
          </a:solidFill>
          <a:ln/>
        </p:spPr>
      </p:sp>
      <p:sp>
        <p:nvSpPr>
          <p:cNvPr id="5" name="Column name 1"/>
          <p:cNvSpPr txBox="1"/>
          <p:nvPr/>
        </p:nvSpPr>
        <p:spPr>
          <a:xfrm>
            <a:off x="685800" y="1874520"/>
            <a:ext cx="2286000" cy="32004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id</a:t>
            </a:r>
            <a:endParaRPr lang="en-US" sz="1400" dirty="0"/>
          </a:p>
        </p:txBody>
      </p:sp>
      <p:sp>
        <p:nvSpPr>
          <p:cNvPr id="6" name="Column type 1"/>
          <p:cNvSpPr txBox="1"/>
          <p:nvPr/>
        </p:nvSpPr>
        <p:spPr>
          <a:xfrm>
            <a:off x="685800" y="2194560"/>
            <a:ext cx="2286000" cy="365760"/>
          </a:xfrm>
          <a:prstGeom prst="rect">
            <a:avLst/>
          </a:prstGeom>
          <a:noFill/>
          <a:ln/>
        </p:spPr>
        <p:txBody>
          <a:bodyPr wrap="square" lIns="0" tIns="0" rIns="0" bIns="0" rtlCol="0" anchor="t"/>
          <a:lstStyle/>
          <a:p>
            <a:pPr indent="0" marL="0">
              <a:buNone/>
            </a:pPr>
            <a:r>
              <a:rPr lang="en-US" sz="1200" dirty="0">
                <a:solidFill>
                  <a:schemeClr val="tx1"/>
                </a:solidFill>
              </a:rPr>
              <a:t>whole number, set by the database</a:t>
            </a:r>
            <a:endParaRPr lang="en-US" sz="1200" dirty="0"/>
          </a:p>
        </p:txBody>
      </p:sp>
      <p:sp>
        <p:nvSpPr>
          <p:cNvPr id="7" name="Column card 2"/>
          <p:cNvSpPr/>
          <p:nvPr/>
        </p:nvSpPr>
        <p:spPr>
          <a:xfrm>
            <a:off x="3291840" y="1783080"/>
            <a:ext cx="2560320" cy="841248"/>
          </a:xfrm>
          <a:prstGeom prst="roundRect">
            <a:avLst>
              <a:gd name="adj" fmla="val 8696"/>
            </a:avLst>
          </a:prstGeom>
          <a:solidFill>
            <a:schemeClr val="bg2"/>
          </a:solidFill>
          <a:ln/>
        </p:spPr>
      </p:sp>
      <p:sp>
        <p:nvSpPr>
          <p:cNvPr id="8" name="Column name 2"/>
          <p:cNvSpPr txBox="1"/>
          <p:nvPr/>
        </p:nvSpPr>
        <p:spPr>
          <a:xfrm>
            <a:off x="3429000" y="1874520"/>
            <a:ext cx="2286000" cy="32004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case_reference</a:t>
            </a:r>
            <a:endParaRPr lang="en-US" sz="1400" dirty="0"/>
          </a:p>
        </p:txBody>
      </p:sp>
      <p:sp>
        <p:nvSpPr>
          <p:cNvPr id="9" name="Column type 2"/>
          <p:cNvSpPr txBox="1"/>
          <p:nvPr/>
        </p:nvSpPr>
        <p:spPr>
          <a:xfrm>
            <a:off x="3429000" y="2194560"/>
            <a:ext cx="2286000" cy="365760"/>
          </a:xfrm>
          <a:prstGeom prst="rect">
            <a:avLst/>
          </a:prstGeom>
          <a:noFill/>
          <a:ln/>
        </p:spPr>
        <p:txBody>
          <a:bodyPr wrap="square" lIns="0" tIns="0" rIns="0" bIns="0" rtlCol="0" anchor="t"/>
          <a:lstStyle/>
          <a:p>
            <a:pPr indent="0" marL="0">
              <a:buNone/>
            </a:pPr>
            <a:r>
              <a:rPr lang="en-US" sz="1200" dirty="0">
                <a:solidFill>
                  <a:schemeClr val="tx1"/>
                </a:solidFill>
              </a:rPr>
              <a:t>text, required</a:t>
            </a:r>
            <a:endParaRPr lang="en-US" sz="1200" dirty="0"/>
          </a:p>
        </p:txBody>
      </p:sp>
      <p:sp>
        <p:nvSpPr>
          <p:cNvPr id="10" name="Column card 3"/>
          <p:cNvSpPr/>
          <p:nvPr/>
        </p:nvSpPr>
        <p:spPr>
          <a:xfrm>
            <a:off x="6035040" y="1783080"/>
            <a:ext cx="2560320" cy="841248"/>
          </a:xfrm>
          <a:prstGeom prst="roundRect">
            <a:avLst>
              <a:gd name="adj" fmla="val 8696"/>
            </a:avLst>
          </a:prstGeom>
          <a:solidFill>
            <a:schemeClr val="bg2"/>
          </a:solidFill>
          <a:ln/>
        </p:spPr>
      </p:sp>
      <p:sp>
        <p:nvSpPr>
          <p:cNvPr id="11" name="Column name 3"/>
          <p:cNvSpPr txBox="1"/>
          <p:nvPr/>
        </p:nvSpPr>
        <p:spPr>
          <a:xfrm>
            <a:off x="6172200" y="1874520"/>
            <a:ext cx="2286000" cy="32004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prediction</a:t>
            </a:r>
            <a:endParaRPr lang="en-US" sz="1400" dirty="0"/>
          </a:p>
        </p:txBody>
      </p:sp>
      <p:sp>
        <p:nvSpPr>
          <p:cNvPr id="12" name="Column type 3"/>
          <p:cNvSpPr txBox="1"/>
          <p:nvPr/>
        </p:nvSpPr>
        <p:spPr>
          <a:xfrm>
            <a:off x="6172200" y="2194560"/>
            <a:ext cx="2286000" cy="365760"/>
          </a:xfrm>
          <a:prstGeom prst="rect">
            <a:avLst/>
          </a:prstGeom>
          <a:noFill/>
          <a:ln/>
        </p:spPr>
        <p:txBody>
          <a:bodyPr wrap="square" lIns="0" tIns="0" rIns="0" bIns="0" rtlCol="0" anchor="t"/>
          <a:lstStyle/>
          <a:p>
            <a:pPr indent="0" marL="0">
              <a:buNone/>
            </a:pPr>
            <a:r>
              <a:rPr lang="en-US" sz="1200" dirty="0">
                <a:solidFill>
                  <a:schemeClr val="tx1"/>
                </a:solidFill>
              </a:rPr>
              <a:t>text, required</a:t>
            </a:r>
            <a:endParaRPr lang="en-US" sz="1200" dirty="0"/>
          </a:p>
        </p:txBody>
      </p:sp>
      <p:sp>
        <p:nvSpPr>
          <p:cNvPr id="13" name="Column card 4"/>
          <p:cNvSpPr/>
          <p:nvPr/>
        </p:nvSpPr>
        <p:spPr>
          <a:xfrm>
            <a:off x="548640" y="2743200"/>
            <a:ext cx="2560320" cy="841248"/>
          </a:xfrm>
          <a:prstGeom prst="roundRect">
            <a:avLst>
              <a:gd name="adj" fmla="val 8696"/>
            </a:avLst>
          </a:prstGeom>
          <a:solidFill>
            <a:schemeClr val="bg2"/>
          </a:solidFill>
          <a:ln/>
        </p:spPr>
      </p:sp>
      <p:sp>
        <p:nvSpPr>
          <p:cNvPr id="14" name="Column name 4"/>
          <p:cNvSpPr txBox="1"/>
          <p:nvPr/>
        </p:nvSpPr>
        <p:spPr>
          <a:xfrm>
            <a:off x="685800" y="2834640"/>
            <a:ext cx="2286000" cy="32004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confidence</a:t>
            </a:r>
            <a:endParaRPr lang="en-US" sz="1400" dirty="0"/>
          </a:p>
        </p:txBody>
      </p:sp>
      <p:sp>
        <p:nvSpPr>
          <p:cNvPr id="15" name="Column type 4"/>
          <p:cNvSpPr txBox="1"/>
          <p:nvPr/>
        </p:nvSpPr>
        <p:spPr>
          <a:xfrm>
            <a:off x="685800" y="3154680"/>
            <a:ext cx="2286000" cy="365760"/>
          </a:xfrm>
          <a:prstGeom prst="rect">
            <a:avLst/>
          </a:prstGeom>
          <a:noFill/>
          <a:ln/>
        </p:spPr>
        <p:txBody>
          <a:bodyPr wrap="square" lIns="0" tIns="0" rIns="0" bIns="0" rtlCol="0" anchor="t"/>
          <a:lstStyle/>
          <a:p>
            <a:pPr indent="0" marL="0">
              <a:buNone/>
            </a:pPr>
            <a:r>
              <a:rPr lang="en-US" sz="1200" dirty="0">
                <a:solidFill>
                  <a:schemeClr val="tx1"/>
                </a:solidFill>
              </a:rPr>
              <a:t>decimal from 0 to 1</a:t>
            </a:r>
            <a:endParaRPr lang="en-US" sz="1200" dirty="0"/>
          </a:p>
        </p:txBody>
      </p:sp>
      <p:sp>
        <p:nvSpPr>
          <p:cNvPr id="16" name="Column card 5"/>
          <p:cNvSpPr/>
          <p:nvPr/>
        </p:nvSpPr>
        <p:spPr>
          <a:xfrm>
            <a:off x="3291840" y="2743200"/>
            <a:ext cx="2560320" cy="841248"/>
          </a:xfrm>
          <a:prstGeom prst="roundRect">
            <a:avLst>
              <a:gd name="adj" fmla="val 8696"/>
            </a:avLst>
          </a:prstGeom>
          <a:solidFill>
            <a:schemeClr val="bg2"/>
          </a:solidFill>
          <a:ln/>
        </p:spPr>
      </p:sp>
      <p:sp>
        <p:nvSpPr>
          <p:cNvPr id="17" name="Column name 5"/>
          <p:cNvSpPr txBox="1"/>
          <p:nvPr/>
        </p:nvSpPr>
        <p:spPr>
          <a:xfrm>
            <a:off x="3429000" y="2834640"/>
            <a:ext cx="2286000" cy="32004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input_summary</a:t>
            </a:r>
            <a:endParaRPr lang="en-US" sz="1400" dirty="0"/>
          </a:p>
        </p:txBody>
      </p:sp>
      <p:sp>
        <p:nvSpPr>
          <p:cNvPr id="18" name="Column type 5"/>
          <p:cNvSpPr txBox="1"/>
          <p:nvPr/>
        </p:nvSpPr>
        <p:spPr>
          <a:xfrm>
            <a:off x="3429000" y="3154680"/>
            <a:ext cx="2286000" cy="365760"/>
          </a:xfrm>
          <a:prstGeom prst="rect">
            <a:avLst/>
          </a:prstGeom>
          <a:noFill/>
          <a:ln/>
        </p:spPr>
        <p:txBody>
          <a:bodyPr wrap="square" lIns="0" tIns="0" rIns="0" bIns="0" rtlCol="0" anchor="t"/>
          <a:lstStyle/>
          <a:p>
            <a:pPr indent="0" marL="0">
              <a:buNone/>
            </a:pPr>
            <a:r>
              <a:rPr lang="en-US" sz="1200" dirty="0">
                <a:solidFill>
                  <a:schemeClr val="tx1"/>
                </a:solidFill>
              </a:rPr>
              <a:t>text, required</a:t>
            </a:r>
            <a:endParaRPr lang="en-US" sz="1200" dirty="0"/>
          </a:p>
        </p:txBody>
      </p:sp>
      <p:sp>
        <p:nvSpPr>
          <p:cNvPr id="19" name="Column card 6"/>
          <p:cNvSpPr/>
          <p:nvPr/>
        </p:nvSpPr>
        <p:spPr>
          <a:xfrm>
            <a:off x="6035040" y="2743200"/>
            <a:ext cx="2560320" cy="841248"/>
          </a:xfrm>
          <a:prstGeom prst="roundRect">
            <a:avLst>
              <a:gd name="adj" fmla="val 8696"/>
            </a:avLst>
          </a:prstGeom>
          <a:solidFill>
            <a:schemeClr val="bg2"/>
          </a:solidFill>
          <a:ln/>
        </p:spPr>
      </p:sp>
      <p:sp>
        <p:nvSpPr>
          <p:cNvPr id="20" name="Column name 6"/>
          <p:cNvSpPr txBox="1"/>
          <p:nvPr/>
        </p:nvSpPr>
        <p:spPr>
          <a:xfrm>
            <a:off x="6172200" y="2834640"/>
            <a:ext cx="2286000" cy="32004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decision</a:t>
            </a:r>
            <a:endParaRPr lang="en-US" sz="1400" dirty="0"/>
          </a:p>
        </p:txBody>
      </p:sp>
      <p:sp>
        <p:nvSpPr>
          <p:cNvPr id="21" name="Column type 6"/>
          <p:cNvSpPr txBox="1"/>
          <p:nvPr/>
        </p:nvSpPr>
        <p:spPr>
          <a:xfrm>
            <a:off x="6172200" y="3154680"/>
            <a:ext cx="2286000" cy="365760"/>
          </a:xfrm>
          <a:prstGeom prst="rect">
            <a:avLst/>
          </a:prstGeom>
          <a:noFill/>
          <a:ln/>
        </p:spPr>
        <p:txBody>
          <a:bodyPr wrap="square" lIns="0" tIns="0" rIns="0" bIns="0" rtlCol="0" anchor="t"/>
          <a:lstStyle/>
          <a:p>
            <a:pPr indent="0" marL="0">
              <a:buNone/>
            </a:pPr>
            <a:r>
              <a:rPr lang="en-US" sz="1200" dirty="0">
                <a:solidFill>
                  <a:schemeClr val="tx1"/>
                </a:solidFill>
              </a:rPr>
              <a:t>pending, approved or rejected</a:t>
            </a:r>
            <a:endParaRPr lang="en-US" sz="1200" dirty="0"/>
          </a:p>
        </p:txBody>
      </p:sp>
      <p:sp>
        <p:nvSpPr>
          <p:cNvPr id="22" name="Column card 7"/>
          <p:cNvSpPr/>
          <p:nvPr/>
        </p:nvSpPr>
        <p:spPr>
          <a:xfrm>
            <a:off x="548640" y="3703320"/>
            <a:ext cx="2560320" cy="841248"/>
          </a:xfrm>
          <a:prstGeom prst="roundRect">
            <a:avLst>
              <a:gd name="adj" fmla="val 8696"/>
            </a:avLst>
          </a:prstGeom>
          <a:solidFill>
            <a:schemeClr val="bg2"/>
          </a:solidFill>
          <a:ln/>
        </p:spPr>
      </p:sp>
      <p:sp>
        <p:nvSpPr>
          <p:cNvPr id="23" name="Column name 7"/>
          <p:cNvSpPr txBox="1"/>
          <p:nvPr/>
        </p:nvSpPr>
        <p:spPr>
          <a:xfrm>
            <a:off x="685800" y="3794760"/>
            <a:ext cx="2286000" cy="32004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notes</a:t>
            </a:r>
            <a:endParaRPr lang="en-US" sz="1400" dirty="0"/>
          </a:p>
        </p:txBody>
      </p:sp>
      <p:sp>
        <p:nvSpPr>
          <p:cNvPr id="24" name="Column type 7"/>
          <p:cNvSpPr txBox="1"/>
          <p:nvPr/>
        </p:nvSpPr>
        <p:spPr>
          <a:xfrm>
            <a:off x="685800" y="4114800"/>
            <a:ext cx="2286000" cy="365760"/>
          </a:xfrm>
          <a:prstGeom prst="rect">
            <a:avLst/>
          </a:prstGeom>
          <a:noFill/>
          <a:ln/>
        </p:spPr>
        <p:txBody>
          <a:bodyPr wrap="square" lIns="0" tIns="0" rIns="0" bIns="0" rtlCol="0" anchor="t"/>
          <a:lstStyle/>
          <a:p>
            <a:pPr indent="0" marL="0">
              <a:buNone/>
            </a:pPr>
            <a:r>
              <a:rPr lang="en-US" sz="1200" dirty="0">
                <a:solidFill>
                  <a:schemeClr val="tx1"/>
                </a:solidFill>
              </a:rPr>
              <a:t>text, optional</a:t>
            </a:r>
            <a:endParaRPr lang="en-US" sz="1200" dirty="0"/>
          </a:p>
        </p:txBody>
      </p:sp>
      <p:sp>
        <p:nvSpPr>
          <p:cNvPr id="25" name="Column card 8"/>
          <p:cNvSpPr/>
          <p:nvPr/>
        </p:nvSpPr>
        <p:spPr>
          <a:xfrm>
            <a:off x="3291840" y="3703320"/>
            <a:ext cx="2560320" cy="841248"/>
          </a:xfrm>
          <a:prstGeom prst="roundRect">
            <a:avLst>
              <a:gd name="adj" fmla="val 8696"/>
            </a:avLst>
          </a:prstGeom>
          <a:solidFill>
            <a:schemeClr val="bg2"/>
          </a:solidFill>
          <a:ln/>
        </p:spPr>
      </p:sp>
      <p:sp>
        <p:nvSpPr>
          <p:cNvPr id="26" name="Column name 8"/>
          <p:cNvSpPr txBox="1"/>
          <p:nvPr/>
        </p:nvSpPr>
        <p:spPr>
          <a:xfrm>
            <a:off x="3429000" y="3794760"/>
            <a:ext cx="2286000" cy="32004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created_at</a:t>
            </a:r>
            <a:endParaRPr lang="en-US" sz="1400" dirty="0"/>
          </a:p>
        </p:txBody>
      </p:sp>
      <p:sp>
        <p:nvSpPr>
          <p:cNvPr id="27" name="Column type 8"/>
          <p:cNvSpPr txBox="1"/>
          <p:nvPr/>
        </p:nvSpPr>
        <p:spPr>
          <a:xfrm>
            <a:off x="3429000" y="4114800"/>
            <a:ext cx="2286000" cy="365760"/>
          </a:xfrm>
          <a:prstGeom prst="rect">
            <a:avLst/>
          </a:prstGeom>
          <a:noFill/>
          <a:ln/>
        </p:spPr>
        <p:txBody>
          <a:bodyPr wrap="square" lIns="0" tIns="0" rIns="0" bIns="0" rtlCol="0" anchor="t"/>
          <a:lstStyle/>
          <a:p>
            <a:pPr indent="0" marL="0">
              <a:buNone/>
            </a:pPr>
            <a:r>
              <a:rPr lang="en-US" sz="1200" dirty="0">
                <a:solidFill>
                  <a:schemeClr val="tx1"/>
                </a:solidFill>
              </a:rPr>
              <a:t>date and time (UTC)</a:t>
            </a:r>
            <a:endParaRPr lang="en-US" sz="1200" dirty="0"/>
          </a:p>
        </p:txBody>
      </p:sp>
      <p:sp>
        <p:nvSpPr>
          <p:cNvPr id="28" name="Column card 9"/>
          <p:cNvSpPr/>
          <p:nvPr/>
        </p:nvSpPr>
        <p:spPr>
          <a:xfrm>
            <a:off x="6035040" y="3703320"/>
            <a:ext cx="2560320" cy="841248"/>
          </a:xfrm>
          <a:prstGeom prst="roundRect">
            <a:avLst>
              <a:gd name="adj" fmla="val 8696"/>
            </a:avLst>
          </a:prstGeom>
          <a:solidFill>
            <a:schemeClr val="bg2"/>
          </a:solidFill>
          <a:ln/>
        </p:spPr>
      </p:sp>
      <p:sp>
        <p:nvSpPr>
          <p:cNvPr id="29" name="Column name 9"/>
          <p:cNvSpPr txBox="1"/>
          <p:nvPr/>
        </p:nvSpPr>
        <p:spPr>
          <a:xfrm>
            <a:off x="6172200" y="3794760"/>
            <a:ext cx="2286000" cy="32004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updated_at</a:t>
            </a:r>
            <a:endParaRPr lang="en-US" sz="1400" dirty="0"/>
          </a:p>
        </p:txBody>
      </p:sp>
      <p:sp>
        <p:nvSpPr>
          <p:cNvPr id="30" name="Column type 9"/>
          <p:cNvSpPr txBox="1"/>
          <p:nvPr/>
        </p:nvSpPr>
        <p:spPr>
          <a:xfrm>
            <a:off x="6172200" y="4114800"/>
            <a:ext cx="2286000" cy="365760"/>
          </a:xfrm>
          <a:prstGeom prst="rect">
            <a:avLst/>
          </a:prstGeom>
          <a:noFill/>
          <a:ln/>
        </p:spPr>
        <p:txBody>
          <a:bodyPr wrap="square" lIns="0" tIns="0" rIns="0" bIns="0" rtlCol="0" anchor="t"/>
          <a:lstStyle/>
          <a:p>
            <a:pPr indent="0" marL="0">
              <a:buNone/>
            </a:pPr>
            <a:r>
              <a:rPr lang="en-US" sz="1200" dirty="0">
                <a:solidFill>
                  <a:schemeClr val="tx1"/>
                </a:solidFill>
              </a:rPr>
              <a:t>changes at every update</a:t>
            </a:r>
            <a:endParaRPr lang="en-US" sz="12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The rules</a:t>
            </a: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lIns="0" tIns="0" rIns="0" bIns="0" rtlCol="0" anchor="t"/>
          <a:lstStyle/>
          <a:p>
            <a:pPr indent="0" marL="0">
              <a:buNone/>
            </a:pPr>
            <a:r>
              <a:rPr lang="en-US" sz="1600" dirty="0">
                <a:solidFill>
                  <a:schemeClr val="accent5"/>
                </a:solidFill>
              </a:rPr>
              <a:t>Every form is checked on the server. A wrong input comes back with a clear message, and nothing is saved.</a:t>
            </a:r>
            <a:endParaRPr lang="en-US" sz="1600" dirty="0"/>
          </a:p>
        </p:txBody>
      </p:sp>
      <p:pic>
        <p:nvPicPr>
          <p:cNvPr id="4" name="Validation screenshot" descr="The create form with four error messages">    </p:cNvPr>
          <p:cNvPicPr>
            <a:picLocks noChangeAspect="1"/>
          </p:cNvPicPr>
          <p:nvPr/>
        </p:nvPicPr>
        <p:blipFill>
          <a:blip r:embed="rId1"/>
          <a:stretch>
            <a:fillRect/>
          </a:stretch>
        </p:blipFill>
        <p:spPr>
          <a:xfrm>
            <a:off x="548640" y="1783080"/>
            <a:ext cx="2331720" cy="2880360"/>
          </a:xfrm>
          <a:prstGeom prst="rect">
            <a:avLst/>
          </a:prstGeom>
        </p:spPr>
      </p:pic>
      <p:sp>
        <p:nvSpPr>
          <p:cNvPr id="5" name="Rule row 1"/>
          <p:cNvSpPr/>
          <p:nvPr/>
        </p:nvSpPr>
        <p:spPr>
          <a:xfrm>
            <a:off x="3154680" y="1783080"/>
            <a:ext cx="5440680" cy="640080"/>
          </a:xfrm>
          <a:prstGeom prst="roundRect">
            <a:avLst>
              <a:gd name="adj" fmla="val 11429"/>
            </a:avLst>
          </a:prstGeom>
          <a:solidFill>
            <a:schemeClr val="bg2"/>
          </a:solidFill>
          <a:ln/>
        </p:spPr>
      </p:sp>
      <p:sp>
        <p:nvSpPr>
          <p:cNvPr id="6" name="Rule 1 circle"/>
          <p:cNvSpPr/>
          <p:nvPr/>
        </p:nvSpPr>
        <p:spPr>
          <a:xfrm>
            <a:off x="3291840" y="1874520"/>
            <a:ext cx="457200" cy="457200"/>
          </a:xfrm>
          <a:prstGeom prst="ellipse">
            <a:avLst/>
          </a:prstGeom>
          <a:solidFill>
            <a:schemeClr val="accent2"/>
          </a:solidFill>
          <a:ln/>
        </p:spPr>
      </p:sp>
      <p:pic>
        <p:nvPicPr>
          <p:cNvPr id="7" name="Rule 1 icon" descr="Rule 1">    </p:cNvPr>
          <p:cNvPicPr>
            <a:picLocks noChangeAspect="1"/>
          </p:cNvPicPr>
          <p:nvPr/>
        </p:nvPicPr>
        <p:blipFill>
          <a:blip r:embed="rId2"/>
          <a:stretch>
            <a:fillRect/>
          </a:stretch>
        </p:blipFill>
        <p:spPr>
          <a:xfrm>
            <a:off x="3406140" y="1988820"/>
            <a:ext cx="228600" cy="228600"/>
          </a:xfrm>
          <a:prstGeom prst="rect">
            <a:avLst/>
          </a:prstGeom>
        </p:spPr>
      </p:pic>
      <p:sp>
        <p:nvSpPr>
          <p:cNvPr id="8" name="Rule title 1"/>
          <p:cNvSpPr txBox="1"/>
          <p:nvPr/>
        </p:nvSpPr>
        <p:spPr>
          <a:xfrm>
            <a:off x="3886200" y="1783080"/>
            <a:ext cx="1234440" cy="640080"/>
          </a:xfrm>
          <a:prstGeom prst="rect">
            <a:avLst/>
          </a:prstGeom>
          <a:noFill/>
          <a:ln/>
        </p:spPr>
        <p:txBody>
          <a:bodyPr wrap="square" lIns="0" tIns="0" rIns="0" bIns="0" rtlCol="0" anchor="ctr"/>
          <a:lstStyle/>
          <a:p>
            <a:pPr indent="0" marL="0">
              <a:buNone/>
            </a:pPr>
            <a:r>
              <a:rPr lang="en-US" sz="1600" b="1" dirty="0">
                <a:solidFill>
                  <a:schemeClr val="tx2"/>
                </a:solidFill>
              </a:rPr>
              <a:t>Required</a:t>
            </a:r>
            <a:endParaRPr lang="en-US" sz="1600" dirty="0"/>
          </a:p>
        </p:txBody>
      </p:sp>
      <p:sp>
        <p:nvSpPr>
          <p:cNvPr id="9" name="Rule text 1"/>
          <p:cNvSpPr txBox="1"/>
          <p:nvPr/>
        </p:nvSpPr>
        <p:spPr>
          <a:xfrm>
            <a:off x="5166360" y="1783080"/>
            <a:ext cx="3337560" cy="640080"/>
          </a:xfrm>
          <a:prstGeom prst="rect">
            <a:avLst/>
          </a:prstGeom>
          <a:noFill/>
          <a:ln/>
        </p:spPr>
        <p:txBody>
          <a:bodyPr wrap="square" lIns="0" tIns="0" rIns="0" bIns="0" rtlCol="0" anchor="ctr"/>
          <a:lstStyle/>
          <a:p>
            <a:pPr indent="0" marL="0">
              <a:buNone/>
            </a:pPr>
            <a:r>
              <a:rPr lang="en-US" sz="1400" dirty="0">
                <a:solidFill>
                  <a:schemeClr val="tx1"/>
                </a:solidFill>
              </a:rPr>
              <a:t>Case reference, prediction, confidence and input summary</a:t>
            </a:r>
            <a:endParaRPr lang="en-US" sz="1400" dirty="0"/>
          </a:p>
        </p:txBody>
      </p:sp>
      <p:sp>
        <p:nvSpPr>
          <p:cNvPr id="10" name="Rule row 2"/>
          <p:cNvSpPr/>
          <p:nvPr/>
        </p:nvSpPr>
        <p:spPr>
          <a:xfrm>
            <a:off x="3154680" y="2514600"/>
            <a:ext cx="5440680" cy="640080"/>
          </a:xfrm>
          <a:prstGeom prst="roundRect">
            <a:avLst>
              <a:gd name="adj" fmla="val 11429"/>
            </a:avLst>
          </a:prstGeom>
          <a:solidFill>
            <a:schemeClr val="bg2"/>
          </a:solidFill>
          <a:ln/>
        </p:spPr>
      </p:sp>
      <p:sp>
        <p:nvSpPr>
          <p:cNvPr id="11" name="Rule 2 circle"/>
          <p:cNvSpPr/>
          <p:nvPr/>
        </p:nvSpPr>
        <p:spPr>
          <a:xfrm>
            <a:off x="3291840" y="2606040"/>
            <a:ext cx="457200" cy="457200"/>
          </a:xfrm>
          <a:prstGeom prst="ellipse">
            <a:avLst/>
          </a:prstGeom>
          <a:solidFill>
            <a:schemeClr val="accent2"/>
          </a:solidFill>
          <a:ln/>
        </p:spPr>
      </p:sp>
      <p:pic>
        <p:nvPicPr>
          <p:cNvPr id="12" name="Rule 2 icon" descr="Rule 2">    </p:cNvPr>
          <p:cNvPicPr>
            <a:picLocks noChangeAspect="1"/>
          </p:cNvPicPr>
          <p:nvPr/>
        </p:nvPicPr>
        <p:blipFill>
          <a:blip r:embed="rId3"/>
          <a:stretch>
            <a:fillRect/>
          </a:stretch>
        </p:blipFill>
        <p:spPr>
          <a:xfrm>
            <a:off x="3406140" y="2720340"/>
            <a:ext cx="228600" cy="228600"/>
          </a:xfrm>
          <a:prstGeom prst="rect">
            <a:avLst/>
          </a:prstGeom>
        </p:spPr>
      </p:pic>
      <p:sp>
        <p:nvSpPr>
          <p:cNvPr id="13" name="Rule title 2"/>
          <p:cNvSpPr txBox="1"/>
          <p:nvPr/>
        </p:nvSpPr>
        <p:spPr>
          <a:xfrm>
            <a:off x="3886200" y="2514600"/>
            <a:ext cx="1234440" cy="640080"/>
          </a:xfrm>
          <a:prstGeom prst="rect">
            <a:avLst/>
          </a:prstGeom>
          <a:noFill/>
          <a:ln/>
        </p:spPr>
        <p:txBody>
          <a:bodyPr wrap="square" lIns="0" tIns="0" rIns="0" bIns="0" rtlCol="0" anchor="ctr"/>
          <a:lstStyle/>
          <a:p>
            <a:pPr indent="0" marL="0">
              <a:buNone/>
            </a:pPr>
            <a:r>
              <a:rPr lang="en-US" sz="1600" b="1" dirty="0">
                <a:solidFill>
                  <a:schemeClr val="tx2"/>
                </a:solidFill>
              </a:rPr>
              <a:t>Confidence</a:t>
            </a:r>
            <a:endParaRPr lang="en-US" sz="1600" dirty="0"/>
          </a:p>
        </p:txBody>
      </p:sp>
      <p:sp>
        <p:nvSpPr>
          <p:cNvPr id="14" name="Rule text 2"/>
          <p:cNvSpPr txBox="1"/>
          <p:nvPr/>
        </p:nvSpPr>
        <p:spPr>
          <a:xfrm>
            <a:off x="5166360" y="2514600"/>
            <a:ext cx="3337560" cy="640080"/>
          </a:xfrm>
          <a:prstGeom prst="rect">
            <a:avLst/>
          </a:prstGeom>
          <a:noFill/>
          <a:ln/>
        </p:spPr>
        <p:txBody>
          <a:bodyPr wrap="square" lIns="0" tIns="0" rIns="0" bIns="0" rtlCol="0" anchor="ctr"/>
          <a:lstStyle/>
          <a:p>
            <a:pPr indent="0" marL="0">
              <a:buNone/>
            </a:pPr>
            <a:r>
              <a:rPr lang="en-US" sz="1400" dirty="0">
                <a:solidFill>
                  <a:schemeClr val="tx1"/>
                </a:solidFill>
              </a:rPr>
              <a:t>A number from 0 to 1. Anything else is rejected.</a:t>
            </a:r>
            <a:endParaRPr lang="en-US" sz="1400" dirty="0"/>
          </a:p>
        </p:txBody>
      </p:sp>
      <p:sp>
        <p:nvSpPr>
          <p:cNvPr id="15" name="Rule row 3"/>
          <p:cNvSpPr/>
          <p:nvPr/>
        </p:nvSpPr>
        <p:spPr>
          <a:xfrm>
            <a:off x="3154680" y="3246120"/>
            <a:ext cx="5440680" cy="640080"/>
          </a:xfrm>
          <a:prstGeom prst="roundRect">
            <a:avLst>
              <a:gd name="adj" fmla="val 11429"/>
            </a:avLst>
          </a:prstGeom>
          <a:solidFill>
            <a:schemeClr val="bg2"/>
          </a:solidFill>
          <a:ln/>
        </p:spPr>
      </p:sp>
      <p:sp>
        <p:nvSpPr>
          <p:cNvPr id="16" name="Rule 3 circle"/>
          <p:cNvSpPr/>
          <p:nvPr/>
        </p:nvSpPr>
        <p:spPr>
          <a:xfrm>
            <a:off x="3291840" y="3337560"/>
            <a:ext cx="457200" cy="457200"/>
          </a:xfrm>
          <a:prstGeom prst="ellipse">
            <a:avLst/>
          </a:prstGeom>
          <a:solidFill>
            <a:schemeClr val="accent2"/>
          </a:solidFill>
          <a:ln/>
        </p:spPr>
      </p:sp>
      <p:pic>
        <p:nvPicPr>
          <p:cNvPr id="17" name="Rule 3 icon" descr="Rule 3">    </p:cNvPr>
          <p:cNvPicPr>
            <a:picLocks noChangeAspect="1"/>
          </p:cNvPicPr>
          <p:nvPr/>
        </p:nvPicPr>
        <p:blipFill>
          <a:blip r:embed="rId4"/>
          <a:stretch>
            <a:fillRect/>
          </a:stretch>
        </p:blipFill>
        <p:spPr>
          <a:xfrm>
            <a:off x="3406140" y="3451860"/>
            <a:ext cx="228600" cy="228600"/>
          </a:xfrm>
          <a:prstGeom prst="rect">
            <a:avLst/>
          </a:prstGeom>
        </p:spPr>
      </p:pic>
      <p:sp>
        <p:nvSpPr>
          <p:cNvPr id="18" name="Rule title 3"/>
          <p:cNvSpPr txBox="1"/>
          <p:nvPr/>
        </p:nvSpPr>
        <p:spPr>
          <a:xfrm>
            <a:off x="3886200" y="3246120"/>
            <a:ext cx="1234440" cy="640080"/>
          </a:xfrm>
          <a:prstGeom prst="rect">
            <a:avLst/>
          </a:prstGeom>
          <a:noFill/>
          <a:ln/>
        </p:spPr>
        <p:txBody>
          <a:bodyPr wrap="square" lIns="0" tIns="0" rIns="0" bIns="0" rtlCol="0" anchor="ctr"/>
          <a:lstStyle/>
          <a:p>
            <a:pPr indent="0" marL="0">
              <a:buNone/>
            </a:pPr>
            <a:r>
              <a:rPr lang="en-US" sz="1600" b="1" dirty="0">
                <a:solidFill>
                  <a:schemeClr val="tx2"/>
                </a:solidFill>
              </a:rPr>
              <a:t>Decision</a:t>
            </a:r>
            <a:endParaRPr lang="en-US" sz="1600" dirty="0"/>
          </a:p>
        </p:txBody>
      </p:sp>
      <p:sp>
        <p:nvSpPr>
          <p:cNvPr id="19" name="Rule text 3"/>
          <p:cNvSpPr txBox="1"/>
          <p:nvPr/>
        </p:nvSpPr>
        <p:spPr>
          <a:xfrm>
            <a:off x="5166360" y="3246120"/>
            <a:ext cx="3337560" cy="640080"/>
          </a:xfrm>
          <a:prstGeom prst="rect">
            <a:avLst/>
          </a:prstGeom>
          <a:noFill/>
          <a:ln/>
        </p:spPr>
        <p:txBody>
          <a:bodyPr wrap="square" lIns="0" tIns="0" rIns="0" bIns="0" rtlCol="0" anchor="ctr"/>
          <a:lstStyle/>
          <a:p>
            <a:pPr indent="0" marL="0">
              <a:buNone/>
            </a:pPr>
            <a:r>
              <a:rPr lang="en-US" sz="1400" dirty="0">
                <a:solidFill>
                  <a:schemeClr val="tx1"/>
                </a:solidFill>
              </a:rPr>
              <a:t>Only pending, approved or rejected</a:t>
            </a:r>
            <a:endParaRPr lang="en-US" sz="1400" dirty="0"/>
          </a:p>
        </p:txBody>
      </p:sp>
      <p:sp>
        <p:nvSpPr>
          <p:cNvPr id="20" name="Rule row 4"/>
          <p:cNvSpPr/>
          <p:nvPr/>
        </p:nvSpPr>
        <p:spPr>
          <a:xfrm>
            <a:off x="3154680" y="3977640"/>
            <a:ext cx="5440680" cy="640080"/>
          </a:xfrm>
          <a:prstGeom prst="roundRect">
            <a:avLst>
              <a:gd name="adj" fmla="val 11429"/>
            </a:avLst>
          </a:prstGeom>
          <a:solidFill>
            <a:schemeClr val="bg2"/>
          </a:solidFill>
          <a:ln/>
        </p:spPr>
      </p:sp>
      <p:sp>
        <p:nvSpPr>
          <p:cNvPr id="21" name="Rule 4 circle"/>
          <p:cNvSpPr/>
          <p:nvPr/>
        </p:nvSpPr>
        <p:spPr>
          <a:xfrm>
            <a:off x="3291840" y="4069080"/>
            <a:ext cx="457200" cy="457200"/>
          </a:xfrm>
          <a:prstGeom prst="ellipse">
            <a:avLst/>
          </a:prstGeom>
          <a:solidFill>
            <a:schemeClr val="accent2"/>
          </a:solidFill>
          <a:ln/>
        </p:spPr>
      </p:sp>
      <p:pic>
        <p:nvPicPr>
          <p:cNvPr id="22" name="Rule 4 icon" descr="Rule 4">    </p:cNvPr>
          <p:cNvPicPr>
            <a:picLocks noChangeAspect="1"/>
          </p:cNvPicPr>
          <p:nvPr/>
        </p:nvPicPr>
        <p:blipFill>
          <a:blip r:embed="rId5"/>
          <a:stretch>
            <a:fillRect/>
          </a:stretch>
        </p:blipFill>
        <p:spPr>
          <a:xfrm>
            <a:off x="3406140" y="4183380"/>
            <a:ext cx="228600" cy="228600"/>
          </a:xfrm>
          <a:prstGeom prst="rect">
            <a:avLst/>
          </a:prstGeom>
        </p:spPr>
      </p:pic>
      <p:sp>
        <p:nvSpPr>
          <p:cNvPr id="23" name="Rule title 4"/>
          <p:cNvSpPr txBox="1"/>
          <p:nvPr/>
        </p:nvSpPr>
        <p:spPr>
          <a:xfrm>
            <a:off x="3886200" y="3977640"/>
            <a:ext cx="1234440" cy="640080"/>
          </a:xfrm>
          <a:prstGeom prst="rect">
            <a:avLst/>
          </a:prstGeom>
          <a:noFill/>
          <a:ln/>
        </p:spPr>
        <p:txBody>
          <a:bodyPr wrap="square" lIns="0" tIns="0" rIns="0" bIns="0" rtlCol="0" anchor="ctr"/>
          <a:lstStyle/>
          <a:p>
            <a:pPr indent="0" marL="0">
              <a:buNone/>
            </a:pPr>
            <a:r>
              <a:rPr lang="en-US" sz="1600" b="1" dirty="0">
                <a:solidFill>
                  <a:schemeClr val="tx2"/>
                </a:solidFill>
              </a:rPr>
              <a:t>POST only</a:t>
            </a:r>
            <a:endParaRPr lang="en-US" sz="1600" dirty="0"/>
          </a:p>
        </p:txBody>
      </p:sp>
      <p:sp>
        <p:nvSpPr>
          <p:cNvPr id="24" name="Rule text 4"/>
          <p:cNvSpPr txBox="1"/>
          <p:nvPr/>
        </p:nvSpPr>
        <p:spPr>
          <a:xfrm>
            <a:off x="5166360" y="3977640"/>
            <a:ext cx="3337560" cy="640080"/>
          </a:xfrm>
          <a:prstGeom prst="rect">
            <a:avLst/>
          </a:prstGeom>
          <a:noFill/>
          <a:ln/>
        </p:spPr>
        <p:txBody>
          <a:bodyPr wrap="square" lIns="0" tIns="0" rIns="0" bIns="0" rtlCol="0" anchor="ctr"/>
          <a:lstStyle/>
          <a:p>
            <a:pPr indent="0" marL="0">
              <a:buNone/>
            </a:pPr>
            <a:r>
              <a:rPr lang="en-US" sz="1400" dirty="0">
                <a:solidFill>
                  <a:schemeClr val="tx1"/>
                </a:solidFill>
              </a:rPr>
              <a:t>Create, update and delete never run on a page visit</a:t>
            </a:r>
            <a:endParaRPr lang="en-US" sz="14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In the browser</a:t>
            </a: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lIns="0" tIns="0" rIns="0" bIns="0" rtlCol="0" anchor="t"/>
          <a:lstStyle/>
          <a:p>
            <a:pPr indent="0" marL="0">
              <a:buNone/>
            </a:pPr>
            <a:r>
              <a:rPr lang="en-US" sz="1600" dirty="0">
                <a:solidFill>
                  <a:schemeClr val="accent5"/>
                </a:solidFill>
              </a:rPr>
              <a:t>The dashboard shows every review with the status totals. A decision saved in one session is read from the database in another.</a:t>
            </a:r>
            <a:endParaRPr lang="en-US" sz="1600" dirty="0"/>
          </a:p>
        </p:txBody>
      </p:sp>
      <p:pic>
        <p:nvPicPr>
          <p:cNvPr id="4" name="Dashboard screenshot" descr="The dashboard with four reviews and the status totals">    </p:cNvPr>
          <p:cNvPicPr>
            <a:picLocks noChangeAspect="1"/>
          </p:cNvPicPr>
          <p:nvPr/>
        </p:nvPicPr>
        <p:blipFill>
          <a:blip r:embed="rId1"/>
          <a:stretch>
            <a:fillRect/>
          </a:stretch>
        </p:blipFill>
        <p:spPr>
          <a:xfrm>
            <a:off x="548640" y="1783080"/>
            <a:ext cx="4023360" cy="2880360"/>
          </a:xfrm>
          <a:prstGeom prst="rect">
            <a:avLst/>
          </a:prstGeom>
        </p:spPr>
      </p:pic>
      <p:sp>
        <p:nvSpPr>
          <p:cNvPr id="5" name="Shown card 1"/>
          <p:cNvSpPr/>
          <p:nvPr/>
        </p:nvSpPr>
        <p:spPr>
          <a:xfrm>
            <a:off x="4846320" y="1783080"/>
            <a:ext cx="3749040" cy="914400"/>
          </a:xfrm>
          <a:prstGeom prst="roundRect">
            <a:avLst>
              <a:gd name="adj" fmla="val 8000"/>
            </a:avLst>
          </a:prstGeom>
          <a:solidFill>
            <a:schemeClr val="bg2"/>
          </a:solidFill>
          <a:ln/>
        </p:spPr>
      </p:sp>
      <p:sp>
        <p:nvSpPr>
          <p:cNvPr id="6" name="Shown title 1"/>
          <p:cNvSpPr txBox="1"/>
          <p:nvPr/>
        </p:nvSpPr>
        <p:spPr>
          <a:xfrm>
            <a:off x="5029200" y="1874520"/>
            <a:ext cx="3383280" cy="320040"/>
          </a:xfrm>
          <a:prstGeom prst="rect">
            <a:avLst/>
          </a:prstGeom>
          <a:noFill/>
          <a:ln/>
        </p:spPr>
        <p:txBody>
          <a:bodyPr wrap="square" lIns="0" tIns="0" rIns="0" bIns="0" rtlCol="0" anchor="ctr"/>
          <a:lstStyle/>
          <a:p>
            <a:pPr indent="0" marL="0">
              <a:buNone/>
            </a:pPr>
            <a:r>
              <a:rPr lang="en-US" sz="1600" b="1" dirty="0">
                <a:solidFill>
                  <a:schemeClr val="tx2"/>
                </a:solidFill>
              </a:rPr>
              <a:t>Status totals</a:t>
            </a:r>
            <a:endParaRPr lang="en-US" sz="1600" dirty="0"/>
          </a:p>
        </p:txBody>
      </p:sp>
      <p:sp>
        <p:nvSpPr>
          <p:cNvPr id="7" name="Shown text 1"/>
          <p:cNvSpPr txBox="1"/>
          <p:nvPr/>
        </p:nvSpPr>
        <p:spPr>
          <a:xfrm>
            <a:off x="5029200" y="2194560"/>
            <a:ext cx="3383280" cy="457200"/>
          </a:xfrm>
          <a:prstGeom prst="rect">
            <a:avLst/>
          </a:prstGeom>
          <a:noFill/>
          <a:ln/>
        </p:spPr>
        <p:txBody>
          <a:bodyPr wrap="square" lIns="0" tIns="0" rIns="0" bIns="0" rtlCol="0" anchor="t"/>
          <a:lstStyle/>
          <a:p>
            <a:pPr indent="0" marL="0">
              <a:buNone/>
            </a:pPr>
            <a:r>
              <a:rPr lang="en-US" sz="1400" dirty="0">
                <a:solidFill>
                  <a:schemeClr val="tx1"/>
                </a:solidFill>
              </a:rPr>
              <a:t>all, pending, approved and rejected, at the top</a:t>
            </a:r>
            <a:endParaRPr lang="en-US" sz="1400" dirty="0"/>
          </a:p>
        </p:txBody>
      </p:sp>
      <p:sp>
        <p:nvSpPr>
          <p:cNvPr id="8" name="Shown card 2"/>
          <p:cNvSpPr/>
          <p:nvPr/>
        </p:nvSpPr>
        <p:spPr>
          <a:xfrm>
            <a:off x="4846320" y="2770632"/>
            <a:ext cx="3749040" cy="914400"/>
          </a:xfrm>
          <a:prstGeom prst="roundRect">
            <a:avLst>
              <a:gd name="adj" fmla="val 8000"/>
            </a:avLst>
          </a:prstGeom>
          <a:solidFill>
            <a:schemeClr val="bg2"/>
          </a:solidFill>
          <a:ln/>
        </p:spPr>
      </p:sp>
      <p:sp>
        <p:nvSpPr>
          <p:cNvPr id="9" name="Shown title 2"/>
          <p:cNvSpPr txBox="1"/>
          <p:nvPr/>
        </p:nvSpPr>
        <p:spPr>
          <a:xfrm>
            <a:off x="5029200" y="2862072"/>
            <a:ext cx="3383280" cy="320040"/>
          </a:xfrm>
          <a:prstGeom prst="rect">
            <a:avLst/>
          </a:prstGeom>
          <a:noFill/>
          <a:ln/>
        </p:spPr>
        <p:txBody>
          <a:bodyPr wrap="square" lIns="0" tIns="0" rIns="0" bIns="0" rtlCol="0" anchor="ctr"/>
          <a:lstStyle/>
          <a:p>
            <a:pPr indent="0" marL="0">
              <a:buNone/>
            </a:pPr>
            <a:r>
              <a:rPr lang="en-US" sz="1600" b="1" dirty="0">
                <a:solidFill>
                  <a:schemeClr val="tx2"/>
                </a:solidFill>
              </a:rPr>
              <a:t>Newest first</a:t>
            </a:r>
            <a:endParaRPr lang="en-US" sz="1600" dirty="0"/>
          </a:p>
        </p:txBody>
      </p:sp>
      <p:sp>
        <p:nvSpPr>
          <p:cNvPr id="10" name="Shown text 2"/>
          <p:cNvSpPr txBox="1"/>
          <p:nvPr/>
        </p:nvSpPr>
        <p:spPr>
          <a:xfrm>
            <a:off x="5029200" y="3182112"/>
            <a:ext cx="3383280" cy="457200"/>
          </a:xfrm>
          <a:prstGeom prst="rect">
            <a:avLst/>
          </a:prstGeom>
          <a:noFill/>
          <a:ln/>
        </p:spPr>
        <p:txBody>
          <a:bodyPr wrap="square" lIns="0" tIns="0" rIns="0" bIns="0" rtlCol="0" anchor="t"/>
          <a:lstStyle/>
          <a:p>
            <a:pPr indent="0" marL="0">
              <a:buNone/>
            </a:pPr>
            <a:r>
              <a:rPr lang="en-US" sz="1400" dirty="0">
                <a:solidFill>
                  <a:schemeClr val="tx1"/>
                </a:solidFill>
              </a:rPr>
              <a:t>every review with its decision, notes and update time</a:t>
            </a:r>
            <a:endParaRPr lang="en-US" sz="1400" dirty="0"/>
          </a:p>
        </p:txBody>
      </p:sp>
      <p:sp>
        <p:nvSpPr>
          <p:cNvPr id="11" name="Shown card 3"/>
          <p:cNvSpPr/>
          <p:nvPr/>
        </p:nvSpPr>
        <p:spPr>
          <a:xfrm>
            <a:off x="4846320" y="3758184"/>
            <a:ext cx="3749040" cy="914400"/>
          </a:xfrm>
          <a:prstGeom prst="roundRect">
            <a:avLst>
              <a:gd name="adj" fmla="val 8000"/>
            </a:avLst>
          </a:prstGeom>
          <a:solidFill>
            <a:schemeClr val="bg2"/>
          </a:solidFill>
          <a:ln/>
        </p:spPr>
      </p:sp>
      <p:sp>
        <p:nvSpPr>
          <p:cNvPr id="12" name="Shown title 3"/>
          <p:cNvSpPr txBox="1"/>
          <p:nvPr/>
        </p:nvSpPr>
        <p:spPr>
          <a:xfrm>
            <a:off x="5029200" y="3849624"/>
            <a:ext cx="3383280" cy="320040"/>
          </a:xfrm>
          <a:prstGeom prst="rect">
            <a:avLst/>
          </a:prstGeom>
          <a:noFill/>
          <a:ln/>
        </p:spPr>
        <p:txBody>
          <a:bodyPr wrap="square" lIns="0" tIns="0" rIns="0" bIns="0" rtlCol="0" anchor="ctr"/>
          <a:lstStyle/>
          <a:p>
            <a:pPr indent="0" marL="0">
              <a:buNone/>
            </a:pPr>
            <a:r>
              <a:rPr lang="en-US" sz="1600" b="1" dirty="0">
                <a:solidFill>
                  <a:schemeClr val="tx2"/>
                </a:solidFill>
              </a:rPr>
              <a:t>Edit and Delete</a:t>
            </a:r>
            <a:endParaRPr lang="en-US" sz="1600" dirty="0"/>
          </a:p>
        </p:txBody>
      </p:sp>
      <p:sp>
        <p:nvSpPr>
          <p:cNvPr id="13" name="Shown text 3"/>
          <p:cNvSpPr txBox="1"/>
          <p:nvPr/>
        </p:nvSpPr>
        <p:spPr>
          <a:xfrm>
            <a:off x="5029200" y="4169664"/>
            <a:ext cx="3383280" cy="457200"/>
          </a:xfrm>
          <a:prstGeom prst="rect">
            <a:avLst/>
          </a:prstGeom>
          <a:noFill/>
          <a:ln/>
        </p:spPr>
        <p:txBody>
          <a:bodyPr wrap="square" lIns="0" tIns="0" rIns="0" bIns="0" rtlCol="0" anchor="t"/>
          <a:lstStyle/>
          <a:p>
            <a:pPr indent="0" marL="0">
              <a:buNone/>
            </a:pPr>
            <a:r>
              <a:rPr lang="en-US" sz="1400" dirty="0">
                <a:solidFill>
                  <a:schemeClr val="tx1"/>
                </a:solidFill>
              </a:rPr>
              <a:t>in every row. Delete asks first.</a:t>
            </a:r>
            <a:endParaRPr lang="en-US" sz="14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The tests</a:t>
            </a: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lIns="0" tIns="0" rIns="0" bIns="0" rtlCol="0" anchor="t"/>
          <a:lstStyle/>
          <a:p>
            <a:pPr indent="0" marL="0">
              <a:buNone/>
            </a:pPr>
            <a:r>
              <a:rPr lang="en-US" sz="1600" dirty="0">
                <a:solidFill>
                  <a:schemeClr val="accent5"/>
                </a:solidFill>
              </a:rPr>
              <a:t>99 tests guard the rules. They fail when the code is wrong: we broke it on purpose to check.</a:t>
            </a:r>
            <a:endParaRPr lang="en-US" sz="1600" dirty="0"/>
          </a:p>
        </p:txBody>
      </p:sp>
      <p:graphicFrame>
        <p:nvGraphicFramePr>
          <p:cNvPr id="4" name="Chart 0" descr=""/>
          <p:cNvGraphicFramePr/>
          <p:nvPr/>
        </p:nvGraphicFramePr>
        <p:xfrm>
          <a:off x="548640" y="1783080"/>
          <a:ext cx="4937760" cy="2926080"/>
        </p:xfrm>
        <a:graphic xmlns:a="http://schemas.openxmlformats.org/drawingml/2006/main">
          <a:graphicData uri="http://schemas.openxmlformats.org/drawingml/2006/chart">
            <c:chart xmlns:c="http://schemas.openxmlformats.org/drawingml/2006/chart" r:id="rId1"/>
          </a:graphicData>
        </a:graphic>
      </p:graphicFrame>
      <p:sp>
        <p:nvSpPr>
          <p:cNvPr id="5" name="Test stat card 1"/>
          <p:cNvSpPr/>
          <p:nvPr/>
        </p:nvSpPr>
        <p:spPr>
          <a:xfrm>
            <a:off x="5760720" y="1783080"/>
            <a:ext cx="2834640" cy="896112"/>
          </a:xfrm>
          <a:prstGeom prst="roundRect">
            <a:avLst>
              <a:gd name="adj" fmla="val 8163"/>
            </a:avLst>
          </a:prstGeom>
          <a:solidFill>
            <a:schemeClr val="bg2"/>
          </a:solidFill>
          <a:ln/>
        </p:spPr>
      </p:sp>
      <p:sp>
        <p:nvSpPr>
          <p:cNvPr id="6" name="Test number 1"/>
          <p:cNvSpPr txBox="1"/>
          <p:nvPr/>
        </p:nvSpPr>
        <p:spPr>
          <a:xfrm>
            <a:off x="5943600" y="1847088"/>
            <a:ext cx="2514600" cy="384048"/>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99</a:t>
            </a:r>
            <a:endParaRPr lang="en-US" sz="2400" dirty="0"/>
          </a:p>
        </p:txBody>
      </p:sp>
      <p:sp>
        <p:nvSpPr>
          <p:cNvPr id="7" name="Test text 1"/>
          <p:cNvSpPr txBox="1"/>
          <p:nvPr/>
        </p:nvSpPr>
        <p:spPr>
          <a:xfrm>
            <a:off x="5943600" y="2240280"/>
            <a:ext cx="2514600" cy="384048"/>
          </a:xfrm>
          <a:prstGeom prst="rect">
            <a:avLst/>
          </a:prstGeom>
          <a:noFill/>
          <a:ln/>
        </p:spPr>
        <p:txBody>
          <a:bodyPr wrap="square" lIns="0" tIns="0" rIns="0" bIns="0" rtlCol="0" anchor="t"/>
          <a:lstStyle/>
          <a:p>
            <a:pPr indent="0" marL="0">
              <a:buNone/>
            </a:pPr>
            <a:r>
              <a:rPr lang="en-US" sz="1200" dirty="0">
                <a:solidFill>
                  <a:schemeClr val="tx1"/>
                </a:solidFill>
              </a:rPr>
              <a:t>tests pass</a:t>
            </a:r>
            <a:endParaRPr lang="en-US" sz="1200" dirty="0"/>
          </a:p>
        </p:txBody>
      </p:sp>
      <p:sp>
        <p:nvSpPr>
          <p:cNvPr id="8" name="Test stat card 2"/>
          <p:cNvSpPr/>
          <p:nvPr/>
        </p:nvSpPr>
        <p:spPr>
          <a:xfrm>
            <a:off x="5760720" y="2770632"/>
            <a:ext cx="2834640" cy="896112"/>
          </a:xfrm>
          <a:prstGeom prst="roundRect">
            <a:avLst>
              <a:gd name="adj" fmla="val 8163"/>
            </a:avLst>
          </a:prstGeom>
          <a:solidFill>
            <a:schemeClr val="bg2"/>
          </a:solidFill>
          <a:ln/>
        </p:spPr>
      </p:sp>
      <p:sp>
        <p:nvSpPr>
          <p:cNvPr id="9" name="Test number 2"/>
          <p:cNvSpPr txBox="1"/>
          <p:nvPr/>
        </p:nvSpPr>
        <p:spPr>
          <a:xfrm>
            <a:off x="5943600" y="2834640"/>
            <a:ext cx="2514600" cy="384048"/>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99</a:t>
            </a:r>
            <a:endParaRPr lang="en-US" sz="2400" dirty="0"/>
          </a:p>
        </p:txBody>
      </p:sp>
      <p:sp>
        <p:nvSpPr>
          <p:cNvPr id="10" name="Test text 2"/>
          <p:cNvSpPr txBox="1"/>
          <p:nvPr/>
        </p:nvSpPr>
        <p:spPr>
          <a:xfrm>
            <a:off x="5943600" y="3227832"/>
            <a:ext cx="2514600" cy="384048"/>
          </a:xfrm>
          <a:prstGeom prst="rect">
            <a:avLst/>
          </a:prstGeom>
          <a:noFill/>
          <a:ln/>
        </p:spPr>
        <p:txBody>
          <a:bodyPr wrap="square" lIns="0" tIns="0" rIns="0" bIns="0" rtlCol="0" anchor="t"/>
          <a:lstStyle/>
          <a:p>
            <a:pPr indent="0" marL="0">
              <a:buNone/>
            </a:pPr>
            <a:r>
              <a:rPr lang="en-US" sz="1200" dirty="0">
                <a:solidFill>
                  <a:schemeClr val="tx1"/>
                </a:solidFill>
              </a:rPr>
              <a:t>pass in a fresh clone of the public repository</a:t>
            </a:r>
            <a:endParaRPr lang="en-US" sz="1200" dirty="0"/>
          </a:p>
        </p:txBody>
      </p:sp>
      <p:sp>
        <p:nvSpPr>
          <p:cNvPr id="11" name="Test stat card 3"/>
          <p:cNvSpPr/>
          <p:nvPr/>
        </p:nvSpPr>
        <p:spPr>
          <a:xfrm>
            <a:off x="5760720" y="3758184"/>
            <a:ext cx="2834640" cy="896112"/>
          </a:xfrm>
          <a:prstGeom prst="roundRect">
            <a:avLst>
              <a:gd name="adj" fmla="val 8163"/>
            </a:avLst>
          </a:prstGeom>
          <a:solidFill>
            <a:schemeClr val="bg2"/>
          </a:solidFill>
          <a:ln/>
        </p:spPr>
      </p:sp>
      <p:sp>
        <p:nvSpPr>
          <p:cNvPr id="12" name="Test number 3"/>
          <p:cNvSpPr txBox="1"/>
          <p:nvPr/>
        </p:nvSpPr>
        <p:spPr>
          <a:xfrm>
            <a:off x="5943600" y="3822192"/>
            <a:ext cx="2514600" cy="384048"/>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on purpose</a:t>
            </a:r>
            <a:endParaRPr lang="en-US" sz="2400" dirty="0"/>
          </a:p>
        </p:txBody>
      </p:sp>
      <p:sp>
        <p:nvSpPr>
          <p:cNvPr id="13" name="Test text 3"/>
          <p:cNvSpPr txBox="1"/>
          <p:nvPr/>
        </p:nvSpPr>
        <p:spPr>
          <a:xfrm>
            <a:off x="5943600" y="4215384"/>
            <a:ext cx="2514600" cy="384048"/>
          </a:xfrm>
          <a:prstGeom prst="rect">
            <a:avLst/>
          </a:prstGeom>
          <a:noFill/>
          <a:ln/>
        </p:spPr>
        <p:txBody>
          <a:bodyPr wrap="square" lIns="0" tIns="0" rIns="0" bIns="0" rtlCol="0" anchor="t"/>
          <a:lstStyle/>
          <a:p>
            <a:pPr indent="0" marL="0">
              <a:buNone/>
            </a:pPr>
            <a:r>
              <a:rPr lang="en-US" sz="1200" dirty="0">
                <a:solidFill>
                  <a:schemeClr val="tx1"/>
                </a:solidFill>
              </a:rPr>
              <a:t>we broke the code to check that the right tests fail</a:t>
            </a:r>
            <a:endParaRPr lang="en-US" sz="12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Deployment</a:t>
            </a: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lIns="0" tIns="0" rIns="0" bIns="0" rtlCol="0" anchor="t"/>
          <a:lstStyle/>
          <a:p>
            <a:pPr indent="0" marL="0">
              <a:buNone/>
            </a:pPr>
            <a:r>
              <a:rPr lang="en-US" sz="1600" dirty="0">
                <a:solidFill>
                  <a:schemeClr val="accent5"/>
                </a:solidFill>
              </a:rPr>
              <a:t>A Render Blueprint created the web service and the database. Both are on the free plan, the app is live, and the evidence is in the repository.</a:t>
            </a:r>
            <a:endParaRPr lang="en-US" sz="1600" dirty="0"/>
          </a:p>
        </p:txBody>
      </p:sp>
      <p:sp>
        <p:nvSpPr>
          <p:cNvPr id="4" name="Deploy card 1"/>
          <p:cNvSpPr/>
          <p:nvPr/>
        </p:nvSpPr>
        <p:spPr>
          <a:xfrm>
            <a:off x="548640" y="1783080"/>
            <a:ext cx="3886200" cy="1115568"/>
          </a:xfrm>
          <a:prstGeom prst="roundRect">
            <a:avLst>
              <a:gd name="adj" fmla="val 6557"/>
            </a:avLst>
          </a:prstGeom>
          <a:solidFill>
            <a:schemeClr val="bg2"/>
          </a:solidFill>
          <a:ln/>
        </p:spPr>
      </p:sp>
      <p:sp>
        <p:nvSpPr>
          <p:cNvPr id="5" name="Deploy 1 circle"/>
          <p:cNvSpPr/>
          <p:nvPr/>
        </p:nvSpPr>
        <p:spPr>
          <a:xfrm>
            <a:off x="731520" y="1947672"/>
            <a:ext cx="457200" cy="457200"/>
          </a:xfrm>
          <a:prstGeom prst="ellipse">
            <a:avLst/>
          </a:prstGeom>
          <a:solidFill>
            <a:schemeClr val="accent2"/>
          </a:solidFill>
          <a:ln/>
        </p:spPr>
      </p:sp>
      <p:pic>
        <p:nvPicPr>
          <p:cNvPr id="6" name="Deploy 1 icon" descr="Deploy 1">    </p:cNvPr>
          <p:cNvPicPr>
            <a:picLocks noChangeAspect="1"/>
          </p:cNvPicPr>
          <p:nvPr/>
        </p:nvPicPr>
        <p:blipFill>
          <a:blip r:embed="rId1"/>
          <a:stretch>
            <a:fillRect/>
          </a:stretch>
        </p:blipFill>
        <p:spPr>
          <a:xfrm>
            <a:off x="845820" y="2061972"/>
            <a:ext cx="228600" cy="228600"/>
          </a:xfrm>
          <a:prstGeom prst="rect">
            <a:avLst/>
          </a:prstGeom>
        </p:spPr>
      </p:pic>
      <p:sp>
        <p:nvSpPr>
          <p:cNvPr id="7" name="Deploy title 1"/>
          <p:cNvSpPr txBox="1"/>
          <p:nvPr/>
        </p:nvSpPr>
        <p:spPr>
          <a:xfrm>
            <a:off x="1325880" y="1874520"/>
            <a:ext cx="2971800" cy="320040"/>
          </a:xfrm>
          <a:prstGeom prst="rect">
            <a:avLst/>
          </a:prstGeom>
          <a:noFill/>
          <a:ln/>
        </p:spPr>
        <p:txBody>
          <a:bodyPr wrap="square" lIns="0" tIns="0" rIns="0" bIns="0" rtlCol="0" anchor="ctr"/>
          <a:lstStyle/>
          <a:p>
            <a:pPr indent="0" marL="0">
              <a:buNone/>
            </a:pPr>
            <a:r>
              <a:rPr lang="en-US" sz="1600" b="1" dirty="0">
                <a:solidFill>
                  <a:schemeClr val="tx2"/>
                </a:solidFill>
              </a:rPr>
              <a:t>Live on free plans</a:t>
            </a:r>
            <a:endParaRPr lang="en-US" sz="1600" dirty="0"/>
          </a:p>
        </p:txBody>
      </p:sp>
      <p:sp>
        <p:nvSpPr>
          <p:cNvPr id="8" name="Deploy text 1"/>
          <p:cNvSpPr txBox="1"/>
          <p:nvPr/>
        </p:nvSpPr>
        <p:spPr>
          <a:xfrm>
            <a:off x="1325880" y="2212848"/>
            <a:ext cx="2971800" cy="658368"/>
          </a:xfrm>
          <a:prstGeom prst="rect">
            <a:avLst/>
          </a:prstGeom>
          <a:noFill/>
          <a:ln/>
        </p:spPr>
        <p:txBody>
          <a:bodyPr wrap="square" lIns="0" tIns="0" rIns="0" bIns="0" rtlCol="0" anchor="t"/>
          <a:lstStyle/>
          <a:p>
            <a:pPr indent="0" marL="0">
              <a:buNone/>
            </a:pPr>
            <a:r>
              <a:rPr lang="en-US" sz="1400" dirty="0">
                <a:solidFill>
                  <a:schemeClr val="tx1"/>
                </a:solidFill>
              </a:rPr>
              <a:t>A Python web service and a PostgreSQL database, both Free. No card was added.</a:t>
            </a:r>
            <a:endParaRPr lang="en-US" sz="1400" dirty="0"/>
          </a:p>
        </p:txBody>
      </p:sp>
      <p:sp>
        <p:nvSpPr>
          <p:cNvPr id="9" name="Deploy card 2"/>
          <p:cNvSpPr/>
          <p:nvPr/>
        </p:nvSpPr>
        <p:spPr>
          <a:xfrm>
            <a:off x="4709160" y="1783080"/>
            <a:ext cx="3886200" cy="1115568"/>
          </a:xfrm>
          <a:prstGeom prst="roundRect">
            <a:avLst>
              <a:gd name="adj" fmla="val 6557"/>
            </a:avLst>
          </a:prstGeom>
          <a:solidFill>
            <a:schemeClr val="bg2"/>
          </a:solidFill>
          <a:ln/>
        </p:spPr>
      </p:sp>
      <p:sp>
        <p:nvSpPr>
          <p:cNvPr id="10" name="Deploy 2 circle"/>
          <p:cNvSpPr/>
          <p:nvPr/>
        </p:nvSpPr>
        <p:spPr>
          <a:xfrm>
            <a:off x="4892040" y="1947672"/>
            <a:ext cx="457200" cy="457200"/>
          </a:xfrm>
          <a:prstGeom prst="ellipse">
            <a:avLst/>
          </a:prstGeom>
          <a:solidFill>
            <a:schemeClr val="accent2"/>
          </a:solidFill>
          <a:ln/>
        </p:spPr>
      </p:sp>
      <p:pic>
        <p:nvPicPr>
          <p:cNvPr id="11" name="Deploy 2 icon" descr="Deploy 2">    </p:cNvPr>
          <p:cNvPicPr>
            <a:picLocks noChangeAspect="1"/>
          </p:cNvPicPr>
          <p:nvPr/>
        </p:nvPicPr>
        <p:blipFill>
          <a:blip r:embed="rId2"/>
          <a:stretch>
            <a:fillRect/>
          </a:stretch>
        </p:blipFill>
        <p:spPr>
          <a:xfrm>
            <a:off x="5006340" y="2061972"/>
            <a:ext cx="228600" cy="228600"/>
          </a:xfrm>
          <a:prstGeom prst="rect">
            <a:avLst/>
          </a:prstGeom>
        </p:spPr>
      </p:pic>
      <p:sp>
        <p:nvSpPr>
          <p:cNvPr id="12" name="Deploy title 2"/>
          <p:cNvSpPr txBox="1"/>
          <p:nvPr/>
        </p:nvSpPr>
        <p:spPr>
          <a:xfrm>
            <a:off x="5486400" y="1874520"/>
            <a:ext cx="2971800" cy="320040"/>
          </a:xfrm>
          <a:prstGeom prst="rect">
            <a:avLst/>
          </a:prstGeom>
          <a:noFill/>
          <a:ln/>
        </p:spPr>
        <p:txBody>
          <a:bodyPr wrap="square" lIns="0" tIns="0" rIns="0" bIns="0" rtlCol="0" anchor="ctr"/>
          <a:lstStyle/>
          <a:p>
            <a:pPr indent="0" marL="0">
              <a:buNone/>
            </a:pPr>
            <a:r>
              <a:rPr lang="en-US" sz="1600" b="1" dirty="0">
                <a:solidFill>
                  <a:schemeClr val="tx2"/>
                </a:solidFill>
              </a:rPr>
              <a:t>It survived a redeploy</a:t>
            </a:r>
            <a:endParaRPr lang="en-US" sz="1600" dirty="0"/>
          </a:p>
        </p:txBody>
      </p:sp>
      <p:sp>
        <p:nvSpPr>
          <p:cNvPr id="13" name="Deploy text 2"/>
          <p:cNvSpPr txBox="1"/>
          <p:nvPr/>
        </p:nvSpPr>
        <p:spPr>
          <a:xfrm>
            <a:off x="5486400" y="2212848"/>
            <a:ext cx="2971800" cy="658368"/>
          </a:xfrm>
          <a:prstGeom prst="rect">
            <a:avLst/>
          </a:prstGeom>
          <a:noFill/>
          <a:ln/>
        </p:spPr>
        <p:txBody>
          <a:bodyPr wrap="square" lIns="0" tIns="0" rIns="0" bIns="0" rtlCol="0" anchor="t"/>
          <a:lstStyle/>
          <a:p>
            <a:pPr indent="0" marL="0">
              <a:buNone/>
            </a:pPr>
            <a:r>
              <a:rPr lang="en-US" sz="1400" dirty="0">
                <a:solidFill>
                  <a:schemeClr val="tx1"/>
                </a:solidFill>
              </a:rPr>
              <a:t>A review made on the public app was still there afterwards, because it lives in PostgreSQL.</a:t>
            </a:r>
            <a:endParaRPr lang="en-US" sz="1400" dirty="0"/>
          </a:p>
        </p:txBody>
      </p:sp>
      <p:sp>
        <p:nvSpPr>
          <p:cNvPr id="14" name="Deploy card 3"/>
          <p:cNvSpPr/>
          <p:nvPr/>
        </p:nvSpPr>
        <p:spPr>
          <a:xfrm>
            <a:off x="548640" y="3017520"/>
            <a:ext cx="3886200" cy="1115568"/>
          </a:xfrm>
          <a:prstGeom prst="roundRect">
            <a:avLst>
              <a:gd name="adj" fmla="val 6557"/>
            </a:avLst>
          </a:prstGeom>
          <a:solidFill>
            <a:schemeClr val="bg2"/>
          </a:solidFill>
          <a:ln/>
        </p:spPr>
      </p:sp>
      <p:sp>
        <p:nvSpPr>
          <p:cNvPr id="15" name="Deploy 3 circle"/>
          <p:cNvSpPr/>
          <p:nvPr/>
        </p:nvSpPr>
        <p:spPr>
          <a:xfrm>
            <a:off x="731520" y="3182112"/>
            <a:ext cx="457200" cy="457200"/>
          </a:xfrm>
          <a:prstGeom prst="ellipse">
            <a:avLst/>
          </a:prstGeom>
          <a:solidFill>
            <a:schemeClr val="accent2"/>
          </a:solidFill>
          <a:ln/>
        </p:spPr>
      </p:sp>
      <p:pic>
        <p:nvPicPr>
          <p:cNvPr id="16" name="Deploy 3 icon" descr="Deploy 3">    </p:cNvPr>
          <p:cNvPicPr>
            <a:picLocks noChangeAspect="1"/>
          </p:cNvPicPr>
          <p:nvPr/>
        </p:nvPicPr>
        <p:blipFill>
          <a:blip r:embed="rId3"/>
          <a:stretch>
            <a:fillRect/>
          </a:stretch>
        </p:blipFill>
        <p:spPr>
          <a:xfrm>
            <a:off x="845820" y="3296412"/>
            <a:ext cx="228600" cy="228600"/>
          </a:xfrm>
          <a:prstGeom prst="rect">
            <a:avLst/>
          </a:prstGeom>
        </p:spPr>
      </p:pic>
      <p:sp>
        <p:nvSpPr>
          <p:cNvPr id="17" name="Deploy title 3"/>
          <p:cNvSpPr txBox="1"/>
          <p:nvPr/>
        </p:nvSpPr>
        <p:spPr>
          <a:xfrm>
            <a:off x="1325880" y="3108960"/>
            <a:ext cx="2971800" cy="320040"/>
          </a:xfrm>
          <a:prstGeom prst="rect">
            <a:avLst/>
          </a:prstGeom>
          <a:noFill/>
          <a:ln/>
        </p:spPr>
        <p:txBody>
          <a:bodyPr wrap="square" lIns="0" tIns="0" rIns="0" bIns="0" rtlCol="0" anchor="ctr"/>
          <a:lstStyle/>
          <a:p>
            <a:pPr indent="0" marL="0">
              <a:buNone/>
            </a:pPr>
            <a:r>
              <a:rPr lang="en-US" sz="1600" b="1" dirty="0">
                <a:solidFill>
                  <a:schemeClr val="tx2"/>
                </a:solidFill>
              </a:rPr>
              <a:t>A slow first load</a:t>
            </a:r>
            <a:endParaRPr lang="en-US" sz="1600" dirty="0"/>
          </a:p>
        </p:txBody>
      </p:sp>
      <p:sp>
        <p:nvSpPr>
          <p:cNvPr id="18" name="Deploy text 3"/>
          <p:cNvSpPr txBox="1"/>
          <p:nvPr/>
        </p:nvSpPr>
        <p:spPr>
          <a:xfrm>
            <a:off x="1325880" y="3447288"/>
            <a:ext cx="2971800" cy="658368"/>
          </a:xfrm>
          <a:prstGeom prst="rect">
            <a:avLst/>
          </a:prstGeom>
          <a:noFill/>
          <a:ln/>
        </p:spPr>
        <p:txBody>
          <a:bodyPr wrap="square" lIns="0" tIns="0" rIns="0" bIns="0" rtlCol="0" anchor="t"/>
          <a:lstStyle/>
          <a:p>
            <a:pPr indent="0" marL="0">
              <a:buNone/>
            </a:pPr>
            <a:r>
              <a:rPr lang="en-US" sz="1400" dirty="0">
                <a:solidFill>
                  <a:schemeClr val="tx1"/>
                </a:solidFill>
              </a:rPr>
              <a:t>After 15 minutes of silence the service sleeps. The first load took 44.49 seconds.</a:t>
            </a:r>
            <a:endParaRPr lang="en-US" sz="1400" dirty="0"/>
          </a:p>
        </p:txBody>
      </p:sp>
      <p:sp>
        <p:nvSpPr>
          <p:cNvPr id="19" name="Deploy card 4"/>
          <p:cNvSpPr/>
          <p:nvPr/>
        </p:nvSpPr>
        <p:spPr>
          <a:xfrm>
            <a:off x="4709160" y="3017520"/>
            <a:ext cx="3886200" cy="1115568"/>
          </a:xfrm>
          <a:prstGeom prst="roundRect">
            <a:avLst>
              <a:gd name="adj" fmla="val 6557"/>
            </a:avLst>
          </a:prstGeom>
          <a:solidFill>
            <a:schemeClr val="bg2"/>
          </a:solidFill>
          <a:ln/>
        </p:spPr>
      </p:sp>
      <p:sp>
        <p:nvSpPr>
          <p:cNvPr id="20" name="Deploy 4 circle"/>
          <p:cNvSpPr/>
          <p:nvPr/>
        </p:nvSpPr>
        <p:spPr>
          <a:xfrm>
            <a:off x="4892040" y="3182112"/>
            <a:ext cx="457200" cy="457200"/>
          </a:xfrm>
          <a:prstGeom prst="ellipse">
            <a:avLst/>
          </a:prstGeom>
          <a:solidFill>
            <a:schemeClr val="accent2"/>
          </a:solidFill>
          <a:ln/>
        </p:spPr>
      </p:sp>
      <p:pic>
        <p:nvPicPr>
          <p:cNvPr id="21" name="Deploy 4 icon" descr="Deploy 4">    </p:cNvPr>
          <p:cNvPicPr>
            <a:picLocks noChangeAspect="1"/>
          </p:cNvPicPr>
          <p:nvPr/>
        </p:nvPicPr>
        <p:blipFill>
          <a:blip r:embed="rId4"/>
          <a:stretch>
            <a:fillRect/>
          </a:stretch>
        </p:blipFill>
        <p:spPr>
          <a:xfrm>
            <a:off x="5006340" y="3296412"/>
            <a:ext cx="228600" cy="228600"/>
          </a:xfrm>
          <a:prstGeom prst="rect">
            <a:avLst/>
          </a:prstGeom>
        </p:spPr>
      </p:pic>
      <p:sp>
        <p:nvSpPr>
          <p:cNvPr id="22" name="Deploy title 4"/>
          <p:cNvSpPr txBox="1"/>
          <p:nvPr/>
        </p:nvSpPr>
        <p:spPr>
          <a:xfrm>
            <a:off x="5486400" y="3108960"/>
            <a:ext cx="2971800" cy="320040"/>
          </a:xfrm>
          <a:prstGeom prst="rect">
            <a:avLst/>
          </a:prstGeom>
          <a:noFill/>
          <a:ln/>
        </p:spPr>
        <p:txBody>
          <a:bodyPr wrap="square" lIns="0" tIns="0" rIns="0" bIns="0" rtlCol="0" anchor="ctr"/>
          <a:lstStyle/>
          <a:p>
            <a:pPr indent="0" marL="0">
              <a:buNone/>
            </a:pPr>
            <a:r>
              <a:rPr lang="en-US" sz="1600" b="1" dirty="0">
                <a:solidFill>
                  <a:schemeClr val="tx2"/>
                </a:solidFill>
              </a:rPr>
              <a:t>No secret in the file</a:t>
            </a:r>
            <a:endParaRPr lang="en-US" sz="1600" dirty="0"/>
          </a:p>
        </p:txBody>
      </p:sp>
      <p:sp>
        <p:nvSpPr>
          <p:cNvPr id="23" name="Deploy text 4"/>
          <p:cNvSpPr txBox="1"/>
          <p:nvPr/>
        </p:nvSpPr>
        <p:spPr>
          <a:xfrm>
            <a:off x="5486400" y="3447288"/>
            <a:ext cx="2971800" cy="658368"/>
          </a:xfrm>
          <a:prstGeom prst="rect">
            <a:avLst/>
          </a:prstGeom>
          <a:noFill/>
          <a:ln/>
        </p:spPr>
        <p:txBody>
          <a:bodyPr wrap="square" lIns="0" tIns="0" rIns="0" bIns="0" rtlCol="0" anchor="t"/>
          <a:lstStyle/>
          <a:p>
            <a:pPr indent="0" marL="0">
              <a:buNone/>
            </a:pPr>
            <a:r>
              <a:rPr lang="en-US" sz="1400" dirty="0">
                <a:solidFill>
                  <a:schemeClr val="tx1"/>
                </a:solidFill>
              </a:rPr>
              <a:t>Render wires DATABASE_URL from the database and generates the secret key.</a:t>
            </a:r>
            <a:endParaRPr lang="en-US" sz="1400" dirty="0"/>
          </a:p>
        </p:txBody>
      </p:sp>
      <p:sp>
        <p:nvSpPr>
          <p:cNvPr id="24" name="Status banner"/>
          <p:cNvSpPr/>
          <p:nvPr/>
        </p:nvSpPr>
        <p:spPr>
          <a:xfrm>
            <a:off x="548640" y="4297680"/>
            <a:ext cx="8046720" cy="411480"/>
          </a:xfrm>
          <a:prstGeom prst="roundRect">
            <a:avLst>
              <a:gd name="adj" fmla="val 17778"/>
            </a:avLst>
          </a:prstGeom>
          <a:solidFill>
            <a:schemeClr val="tx2"/>
          </a:solidFill>
          <a:ln/>
        </p:spPr>
      </p:sp>
      <p:sp>
        <p:nvSpPr>
          <p:cNvPr id="25" name="Status text"/>
          <p:cNvSpPr txBox="1"/>
          <p:nvPr/>
        </p:nvSpPr>
        <p:spPr>
          <a:xfrm>
            <a:off x="731520" y="4297680"/>
            <a:ext cx="7680960" cy="411480"/>
          </a:xfrm>
          <a:prstGeom prst="rect">
            <a:avLst/>
          </a:prstGeom>
          <a:noFill/>
          <a:ln/>
        </p:spPr>
        <p:txBody>
          <a:bodyPr wrap="square" lIns="0" tIns="0" rIns="0" bIns="0" rtlCol="0" anchor="ctr"/>
          <a:lstStyle/>
          <a:p>
            <a:pPr indent="0" marL="0">
              <a:buNone/>
            </a:pPr>
            <a:r>
              <a:rPr lang="en-US" sz="1400" b="1" dirty="0">
                <a:solidFill>
                  <a:schemeClr val="bg1"/>
                </a:solidFill>
              </a:rPr>
              <a:t>Live until about 24 November 2026: model-review-board-pfo7.onrender.com</a:t>
            </a:r>
            <a:endParaRPr lang="en-US" sz="14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600" b="1" dirty="0">
                <a:solidFill>
                  <a:schemeClr val="bg1"/>
                </a:solidFill>
              </a:rPr>
              <a:t>Reflection and status</a:t>
            </a:r>
            <a:endParaRPr lang="en-US" sz="3600" dirty="0"/>
          </a:p>
        </p:txBody>
      </p:sp>
      <p:sp>
        <p:nvSpPr>
          <p:cNvPr id="3" name="Text 0"/>
          <p:cNvSpPr/>
          <p:nvPr>
            <p:ph idx="101" type="body" hasCustomPrompt="1"/>
          </p:nvPr>
        </p:nvSpPr>
        <p:spPr>
          <a:xfrm>
            <a:off x="548640" y="1024128"/>
            <a:ext cx="8046720" cy="594360"/>
          </a:xfrm>
          <a:prstGeom prst="rect">
            <a:avLst/>
          </a:prstGeom>
          <a:noFill/>
          <a:ln/>
        </p:spPr>
        <p:txBody>
          <a:bodyPr wrap="square" lIns="0" tIns="0" rIns="0" bIns="0" rtlCol="0" anchor="t"/>
          <a:lstStyle/>
          <a:p>
            <a:pPr indent="0" marL="0">
              <a:buNone/>
            </a:pPr>
            <a:r>
              <a:rPr lang="en-US" sz="1600" dirty="0">
                <a:solidFill>
                  <a:schemeClr val="bg2"/>
                </a:solidFill>
              </a:rPr>
              <a:t>Why a SQLite file is not enough on Render, what the deployment showed, and the one change before sensitive data.</a:t>
            </a:r>
            <a:endParaRPr lang="en-US" sz="1600" dirty="0"/>
          </a:p>
        </p:txBody>
      </p:sp>
      <p:sp>
        <p:nvSpPr>
          <p:cNvPr id="4" name="Reflection card 1"/>
          <p:cNvSpPr/>
          <p:nvPr/>
        </p:nvSpPr>
        <p:spPr>
          <a:xfrm>
            <a:off x="548640" y="1783080"/>
            <a:ext cx="2468880" cy="2377440"/>
          </a:xfrm>
          <a:prstGeom prst="roundRect">
            <a:avLst>
              <a:gd name="adj" fmla="val 3077"/>
            </a:avLst>
          </a:prstGeom>
          <a:solidFill>
            <a:schemeClr val="accent2"/>
          </a:solidFill>
          <a:ln/>
        </p:spPr>
      </p:sp>
      <p:sp>
        <p:nvSpPr>
          <p:cNvPr id="5" name="Reflection 1 circle"/>
          <p:cNvSpPr/>
          <p:nvPr/>
        </p:nvSpPr>
        <p:spPr>
          <a:xfrm>
            <a:off x="731520" y="1920240"/>
            <a:ext cx="457200" cy="457200"/>
          </a:xfrm>
          <a:prstGeom prst="ellipse">
            <a:avLst/>
          </a:prstGeom>
          <a:solidFill>
            <a:schemeClr val="accent1"/>
          </a:solidFill>
          <a:ln/>
        </p:spPr>
      </p:sp>
      <p:pic>
        <p:nvPicPr>
          <p:cNvPr id="6" name="Reflection 1 icon" descr="Reflection 1">    </p:cNvPr>
          <p:cNvPicPr>
            <a:picLocks noChangeAspect="1"/>
          </p:cNvPicPr>
          <p:nvPr/>
        </p:nvPicPr>
        <p:blipFill>
          <a:blip r:embed="rId1"/>
          <a:stretch>
            <a:fillRect/>
          </a:stretch>
        </p:blipFill>
        <p:spPr>
          <a:xfrm>
            <a:off x="845820" y="2034540"/>
            <a:ext cx="228600" cy="228600"/>
          </a:xfrm>
          <a:prstGeom prst="rect">
            <a:avLst/>
          </a:prstGeom>
        </p:spPr>
      </p:pic>
      <p:sp>
        <p:nvSpPr>
          <p:cNvPr id="7" name="Reflection title 1"/>
          <p:cNvSpPr txBox="1"/>
          <p:nvPr/>
        </p:nvSpPr>
        <p:spPr>
          <a:xfrm>
            <a:off x="1325880" y="1920240"/>
            <a:ext cx="1554480" cy="457200"/>
          </a:xfrm>
          <a:prstGeom prst="rect">
            <a:avLst/>
          </a:prstGeom>
          <a:noFill/>
          <a:ln/>
        </p:spPr>
        <p:txBody>
          <a:bodyPr wrap="square" lIns="0" tIns="0" rIns="0" bIns="0" rtlCol="0" anchor="ctr"/>
          <a:lstStyle/>
          <a:p>
            <a:pPr indent="0" marL="0">
              <a:buNone/>
            </a:pPr>
            <a:r>
              <a:rPr lang="en-US" sz="1600" b="1" dirty="0">
                <a:solidFill>
                  <a:schemeClr val="bg1"/>
                </a:solidFill>
              </a:rPr>
              <a:t>SQLite</a:t>
            </a:r>
            <a:endParaRPr lang="en-US" sz="1600" dirty="0"/>
          </a:p>
        </p:txBody>
      </p:sp>
      <p:sp>
        <p:nvSpPr>
          <p:cNvPr id="8" name="Reflection text 1"/>
          <p:cNvSpPr txBox="1"/>
          <p:nvPr/>
        </p:nvSpPr>
        <p:spPr>
          <a:xfrm>
            <a:off x="731520" y="2560320"/>
            <a:ext cx="2103120" cy="1508760"/>
          </a:xfrm>
          <a:prstGeom prst="rect">
            <a:avLst/>
          </a:prstGeom>
          <a:noFill/>
          <a:ln/>
        </p:spPr>
        <p:txBody>
          <a:bodyPr wrap="square" lIns="0" tIns="0" rIns="0" bIns="0" rtlCol="0" anchor="t"/>
          <a:lstStyle/>
          <a:p>
            <a:pPr indent="0" marL="0">
              <a:buNone/>
            </a:pPr>
            <a:r>
              <a:rPr lang="en-US" sz="1400" dirty="0">
                <a:solidFill>
                  <a:schemeClr val="bg1"/>
                </a:solidFill>
              </a:rPr>
              <a:t>Great for development: no server and one file. Not on a free Render service: its files are lost on every redeploy, restart or spin-down.</a:t>
            </a:r>
            <a:endParaRPr lang="en-US" sz="1400" dirty="0"/>
          </a:p>
        </p:txBody>
      </p:sp>
      <p:sp>
        <p:nvSpPr>
          <p:cNvPr id="9" name="Reflection card 2"/>
          <p:cNvSpPr/>
          <p:nvPr/>
        </p:nvSpPr>
        <p:spPr>
          <a:xfrm>
            <a:off x="3337560" y="1783080"/>
            <a:ext cx="2468880" cy="2377440"/>
          </a:xfrm>
          <a:prstGeom prst="roundRect">
            <a:avLst>
              <a:gd name="adj" fmla="val 3077"/>
            </a:avLst>
          </a:prstGeom>
          <a:solidFill>
            <a:schemeClr val="accent2"/>
          </a:solidFill>
          <a:ln/>
        </p:spPr>
      </p:sp>
      <p:sp>
        <p:nvSpPr>
          <p:cNvPr id="10" name="Reflection 2 circle"/>
          <p:cNvSpPr/>
          <p:nvPr/>
        </p:nvSpPr>
        <p:spPr>
          <a:xfrm>
            <a:off x="3520440" y="1920240"/>
            <a:ext cx="457200" cy="457200"/>
          </a:xfrm>
          <a:prstGeom prst="ellipse">
            <a:avLst/>
          </a:prstGeom>
          <a:solidFill>
            <a:schemeClr val="accent1"/>
          </a:solidFill>
          <a:ln/>
        </p:spPr>
      </p:sp>
      <p:pic>
        <p:nvPicPr>
          <p:cNvPr id="11" name="Reflection 2 icon" descr="Reflection 2">    </p:cNvPr>
          <p:cNvPicPr>
            <a:picLocks noChangeAspect="1"/>
          </p:cNvPicPr>
          <p:nvPr/>
        </p:nvPicPr>
        <p:blipFill>
          <a:blip r:embed="rId2"/>
          <a:stretch>
            <a:fillRect/>
          </a:stretch>
        </p:blipFill>
        <p:spPr>
          <a:xfrm>
            <a:off x="3634740" y="2034540"/>
            <a:ext cx="228600" cy="228600"/>
          </a:xfrm>
          <a:prstGeom prst="rect">
            <a:avLst/>
          </a:prstGeom>
        </p:spPr>
      </p:pic>
      <p:sp>
        <p:nvSpPr>
          <p:cNvPr id="12" name="Reflection title 2"/>
          <p:cNvSpPr txBox="1"/>
          <p:nvPr/>
        </p:nvSpPr>
        <p:spPr>
          <a:xfrm>
            <a:off x="4114800" y="1920240"/>
            <a:ext cx="1554480" cy="457200"/>
          </a:xfrm>
          <a:prstGeom prst="rect">
            <a:avLst/>
          </a:prstGeom>
          <a:noFill/>
          <a:ln/>
        </p:spPr>
        <p:txBody>
          <a:bodyPr wrap="square" lIns="0" tIns="0" rIns="0" bIns="0" rtlCol="0" anchor="ctr"/>
          <a:lstStyle/>
          <a:p>
            <a:pPr indent="0" marL="0">
              <a:buNone/>
            </a:pPr>
            <a:r>
              <a:rPr lang="en-US" sz="1600" b="1" dirty="0">
                <a:solidFill>
                  <a:schemeClr val="bg1"/>
                </a:solidFill>
              </a:rPr>
              <a:t>One change first</a:t>
            </a:r>
            <a:endParaRPr lang="en-US" sz="1600" dirty="0"/>
          </a:p>
        </p:txBody>
      </p:sp>
      <p:sp>
        <p:nvSpPr>
          <p:cNvPr id="13" name="Reflection text 2"/>
          <p:cNvSpPr txBox="1"/>
          <p:nvPr/>
        </p:nvSpPr>
        <p:spPr>
          <a:xfrm>
            <a:off x="3520440" y="2560320"/>
            <a:ext cx="2103120" cy="1508760"/>
          </a:xfrm>
          <a:prstGeom prst="rect">
            <a:avLst/>
          </a:prstGeom>
          <a:noFill/>
          <a:ln/>
        </p:spPr>
        <p:txBody>
          <a:bodyPr wrap="square" lIns="0" tIns="0" rIns="0" bIns="0" rtlCol="0" anchor="t"/>
          <a:lstStyle/>
          <a:p>
            <a:pPr indent="0" marL="0">
              <a:buNone/>
            </a:pPr>
            <a:r>
              <a:rPr lang="en-US" sz="1400" dirty="0">
                <a:solidFill>
                  <a:schemeClr val="bg1"/>
                </a:solidFill>
              </a:rPr>
              <a:t>Authentication and access control. Today anyone with the address can read and change every review.</a:t>
            </a:r>
            <a:endParaRPr lang="en-US" sz="1400" dirty="0"/>
          </a:p>
        </p:txBody>
      </p:sp>
      <p:sp>
        <p:nvSpPr>
          <p:cNvPr id="14" name="Reflection card 3"/>
          <p:cNvSpPr/>
          <p:nvPr/>
        </p:nvSpPr>
        <p:spPr>
          <a:xfrm>
            <a:off x="6126480" y="1783080"/>
            <a:ext cx="2468880" cy="2377440"/>
          </a:xfrm>
          <a:prstGeom prst="roundRect">
            <a:avLst>
              <a:gd name="adj" fmla="val 3077"/>
            </a:avLst>
          </a:prstGeom>
          <a:solidFill>
            <a:schemeClr val="accent2"/>
          </a:solidFill>
          <a:ln/>
        </p:spPr>
      </p:sp>
      <p:sp>
        <p:nvSpPr>
          <p:cNvPr id="15" name="Reflection 3 circle"/>
          <p:cNvSpPr/>
          <p:nvPr/>
        </p:nvSpPr>
        <p:spPr>
          <a:xfrm>
            <a:off x="6309360" y="1920240"/>
            <a:ext cx="457200" cy="457200"/>
          </a:xfrm>
          <a:prstGeom prst="ellipse">
            <a:avLst/>
          </a:prstGeom>
          <a:solidFill>
            <a:schemeClr val="accent1"/>
          </a:solidFill>
          <a:ln/>
        </p:spPr>
      </p:sp>
      <p:pic>
        <p:nvPicPr>
          <p:cNvPr id="16" name="Reflection 3 icon" descr="Reflection 3">    </p:cNvPr>
          <p:cNvPicPr>
            <a:picLocks noChangeAspect="1"/>
          </p:cNvPicPr>
          <p:nvPr/>
        </p:nvPicPr>
        <p:blipFill>
          <a:blip r:embed="rId3"/>
          <a:stretch>
            <a:fillRect/>
          </a:stretch>
        </p:blipFill>
        <p:spPr>
          <a:xfrm>
            <a:off x="6423660" y="2034540"/>
            <a:ext cx="228600" cy="228600"/>
          </a:xfrm>
          <a:prstGeom prst="rect">
            <a:avLst/>
          </a:prstGeom>
        </p:spPr>
      </p:pic>
      <p:sp>
        <p:nvSpPr>
          <p:cNvPr id="17" name="Reflection title 3"/>
          <p:cNvSpPr txBox="1"/>
          <p:nvPr/>
        </p:nvSpPr>
        <p:spPr>
          <a:xfrm>
            <a:off x="6903720" y="1920240"/>
            <a:ext cx="1554480" cy="457200"/>
          </a:xfrm>
          <a:prstGeom prst="rect">
            <a:avLst/>
          </a:prstGeom>
          <a:noFill/>
          <a:ln/>
        </p:spPr>
        <p:txBody>
          <a:bodyPr wrap="square" lIns="0" tIns="0" rIns="0" bIns="0" rtlCol="0" anchor="ctr"/>
          <a:lstStyle/>
          <a:p>
            <a:pPr indent="0" marL="0">
              <a:buNone/>
            </a:pPr>
            <a:r>
              <a:rPr lang="en-US" sz="1600" b="1" dirty="0">
                <a:solidFill>
                  <a:schemeClr val="bg1"/>
                </a:solidFill>
              </a:rPr>
              <a:t>What we saw</a:t>
            </a:r>
            <a:endParaRPr lang="en-US" sz="1600" dirty="0"/>
          </a:p>
        </p:txBody>
      </p:sp>
      <p:sp>
        <p:nvSpPr>
          <p:cNvPr id="18" name="Reflection text 3"/>
          <p:cNvSpPr txBox="1"/>
          <p:nvPr/>
        </p:nvSpPr>
        <p:spPr>
          <a:xfrm>
            <a:off x="6309360" y="2560320"/>
            <a:ext cx="2103120" cy="1508760"/>
          </a:xfrm>
          <a:prstGeom prst="rect">
            <a:avLst/>
          </a:prstGeom>
          <a:noFill/>
          <a:ln/>
        </p:spPr>
        <p:txBody>
          <a:bodyPr wrap="square" lIns="0" tIns="0" rIns="0" bIns="0" rtlCol="0" anchor="t"/>
          <a:lstStyle/>
          <a:p>
            <a:pPr indent="0" marL="0">
              <a:buNone/>
            </a:pPr>
            <a:r>
              <a:rPr lang="en-US" sz="1400" dirty="0">
                <a:solidFill>
                  <a:schemeClr val="bg1"/>
                </a:solidFill>
              </a:rPr>
              <a:t>A review survived a redeploy. The first load after sleep took 44.49 seconds. Removal is planned for about 24 November.</a:t>
            </a:r>
            <a:endParaRPr lang="en-US" sz="1400" dirty="0"/>
          </a:p>
        </p:txBody>
      </p:sp>
      <p:sp>
        <p:nvSpPr>
          <p:cNvPr id="19" name="Closing line"/>
          <p:cNvSpPr txBox="1"/>
          <p:nvPr/>
        </p:nvSpPr>
        <p:spPr>
          <a:xfrm>
            <a:off x="548640" y="4251960"/>
            <a:ext cx="8046720" cy="3657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Built, tested and deployed on Render's free plan</a:t>
            </a:r>
            <a:endParaRPr lang="en-US" sz="2000" dirty="0"/>
          </a:p>
        </p:txBody>
      </p:sp>
      <p:sp>
        <p:nvSpPr>
          <p:cNvPr id="20" name="Repository address"/>
          <p:cNvSpPr txBox="1"/>
          <p:nvPr/>
        </p:nvSpPr>
        <p:spPr>
          <a:xfrm>
            <a:off x="548640" y="4617720"/>
            <a:ext cx="8046720" cy="320040"/>
          </a:xfrm>
          <a:prstGeom prst="rect">
            <a:avLst/>
          </a:prstGeom>
          <a:noFill/>
          <a:ln/>
        </p:spPr>
        <p:txBody>
          <a:bodyPr wrap="square" lIns="0" tIns="0" rIns="0" bIns="0" rtlCol="0" anchor="ctr"/>
          <a:lstStyle/>
          <a:p>
            <a:pPr indent="0" marL="0">
              <a:buNone/>
            </a:pPr>
            <a:r>
              <a:rPr lang="en-US" sz="1600" dirty="0">
                <a:solidFill>
                  <a:schemeClr val="accent1"/>
                </a:solidFill>
              </a:rPr>
              <a:t>github.com/michobc205/model-review-board</a:t>
            </a:r>
            <a:endParaRPr lang="en-US" sz="1600" dirty="0"/>
          </a:p>
        </p:txBody>
      </p:sp>
    </p:spTree>
  </p:cSld>
  <p:clrMapOvr>
    <a:masterClrMapping/>
  </p:clrMapOvr>
</p:sld>
</file>

<file path=ppt/theme/theme1.xml><?xml version="1.0" encoding="utf-8"?>
<a:theme xmlns:a="http://schemas.openxmlformats.org/drawingml/2006/main" name="Model Review Board">
  <a:themeElements>
    <a:clrScheme name="Model Review Board">
      <a:dk1>
        <a:srgbClr val="10222F"/>
      </a:dk1>
      <a:lt1>
        <a:srgbClr val="FFFFFF"/>
      </a:lt1>
      <a:dk2>
        <a:srgbClr val="0B3C5D"/>
      </a:dk2>
      <a:lt2>
        <a:srgbClr val="EAF2F6"/>
      </a:lt2>
      <a:accent1>
        <a:srgbClr val="F28F3B"/>
      </a:accent1>
      <a:accent2>
        <a:srgbClr val="1C7293"/>
      </a:accent2>
      <a:accent3>
        <a:srgbClr val="7FB7BE"/>
      </a:accent3>
      <a:accent4>
        <a:srgbClr val="D95D39"/>
      </a:accent4>
      <a:accent5>
        <a:srgbClr val="5C6B73"/>
      </a:accent5>
      <a:accent6>
        <a:srgbClr val="2E8B57"/>
      </a:accent6>
      <a:hlink>
        <a:srgbClr val="1C7293"/>
      </a:hlink>
      <a:folHlink>
        <a:srgbClr val="5C6B73"/>
      </a:folHlink>
    </a:clrScheme>
    <a:fontScheme name="Model Review Bo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Review Board</dc:title>
  <dc:subject>PptxGenJS Presentation</dc:subject>
  <dc:creator>Michel Mghames</dc:creator>
  <cp:lastModifiedBy>Michel Mghames</cp:lastModifiedBy>
  <cp:revision>1</cp:revision>
  <dcterms:created xsi:type="dcterms:W3CDTF">2026-10-27T19:46:59Z</dcterms:created>
  <dcterms:modified xsi:type="dcterms:W3CDTF">2026-10-27T19:46:59Z</dcterms:modified>
</cp:coreProperties>
</file>